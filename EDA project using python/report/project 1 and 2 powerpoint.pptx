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60" r:id="rId1"/>
  </p:sldMasterIdLst>
  <p:notesMasterIdLst>
    <p:notesMasterId r:id="rId16"/>
  </p:notesMasterIdLst>
  <p:sldIdLst>
    <p:sldId id="306" r:id="rId2"/>
    <p:sldId id="330" r:id="rId3"/>
    <p:sldId id="331" r:id="rId4"/>
    <p:sldId id="333" r:id="rId5"/>
    <p:sldId id="334" r:id="rId6"/>
    <p:sldId id="335" r:id="rId7"/>
    <p:sldId id="336" r:id="rId8"/>
    <p:sldId id="337" r:id="rId9"/>
    <p:sldId id="338" r:id="rId10"/>
    <p:sldId id="342" r:id="rId11"/>
    <p:sldId id="341" r:id="rId12"/>
    <p:sldId id="340" r:id="rId13"/>
    <p:sldId id="339" r:id="rId14"/>
    <p:sldId id="343" r:id="rId15"/>
  </p:sldIdLst>
  <p:sldSz cx="18288000" cy="10287000"/>
  <p:notesSz cx="6858000" cy="9144000"/>
  <p:embeddedFontLst>
    <p:embeddedFont>
      <p:font typeface="Museo Moderno Medium" panose="020B0604020202020204" charset="0"/>
      <p:regular r:id="rId17"/>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53" d="100"/>
          <a:sy n="53" d="100"/>
        </p:scale>
        <p:origin x="802" y="62"/>
      </p:cViewPr>
      <p:guideLst>
        <p:guide orient="horz" pos="216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font" Target="fonts/font1.fntdata"/><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AF3C465-2FD2-4B25-A0CF-3472D1C4036F}" type="datetimeFigureOut">
              <a:rPr lang="en-US" smtClean="0"/>
              <a:t>5/21/2026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1F7CA17-7971-4525-AB5F-4B50B2138160}" type="slidenum">
              <a:rPr lang="en-US" smtClean="0"/>
              <a:t>‹#›</a:t>
            </a:fld>
            <a:endParaRPr lang="en-US"/>
          </a:p>
        </p:txBody>
      </p:sp>
    </p:spTree>
    <p:extLst>
      <p:ext uri="{BB962C8B-B14F-4D97-AF65-F5344CB8AC3E}">
        <p14:creationId xmlns:p14="http://schemas.microsoft.com/office/powerpoint/2010/main" val="248097519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9A12F7C-F237-E256-6E6E-4CAB824EBC8E}"/>
            </a:ext>
          </a:extLst>
        </p:cNvPr>
        <p:cNvGrpSpPr/>
        <p:nvPr/>
      </p:nvGrpSpPr>
      <p:grpSpPr>
        <a:xfrm>
          <a:off x="0" y="0"/>
          <a:ext cx="0" cy="0"/>
          <a:chOff x="0" y="0"/>
          <a:chExt cx="0" cy="0"/>
        </a:xfrm>
      </p:grpSpPr>
      <p:sp>
        <p:nvSpPr>
          <p:cNvPr id="2" name="Header Placeholder 1">
            <a:extLst>
              <a:ext uri="{FF2B5EF4-FFF2-40B4-BE49-F238E27FC236}">
                <a16:creationId xmlns:a16="http://schemas.microsoft.com/office/drawing/2014/main" id="{80BBD423-DE1E-44C1-5FD7-661DB2C94533}"/>
              </a:ext>
            </a:extLst>
          </p:cNvPr>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a:extLst>
              <a:ext uri="{FF2B5EF4-FFF2-40B4-BE49-F238E27FC236}">
                <a16:creationId xmlns:a16="http://schemas.microsoft.com/office/drawing/2014/main" id="{584DD294-AE38-A873-2E1F-4C0FCC6F8617}"/>
              </a:ext>
            </a:extLst>
          </p:cNvPr>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a:extLst>
              <a:ext uri="{FF2B5EF4-FFF2-40B4-BE49-F238E27FC236}">
                <a16:creationId xmlns:a16="http://schemas.microsoft.com/office/drawing/2014/main" id="{67298954-DA95-BD7F-58FD-CF42BD80708F}"/>
              </a:ext>
            </a:extLst>
          </p:cNvPr>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a:extLst>
              <a:ext uri="{FF2B5EF4-FFF2-40B4-BE49-F238E27FC236}">
                <a16:creationId xmlns:a16="http://schemas.microsoft.com/office/drawing/2014/main" id="{04750943-5D25-A3C5-3949-892FEC18D9EB}"/>
              </a:ext>
            </a:extLst>
          </p:cNvPr>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a:t>
            </a:r>
          </a:p>
        </p:txBody>
      </p:sp>
      <p:sp>
        <p:nvSpPr>
          <p:cNvPr id="6" name="Footer Placeholder 5">
            <a:extLst>
              <a:ext uri="{FF2B5EF4-FFF2-40B4-BE49-F238E27FC236}">
                <a16:creationId xmlns:a16="http://schemas.microsoft.com/office/drawing/2014/main" id="{6C146D9D-DE48-80AC-6CA1-7FC67A8FE91F}"/>
              </a:ext>
            </a:extLst>
          </p:cNvPr>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a:extLst>
              <a:ext uri="{FF2B5EF4-FFF2-40B4-BE49-F238E27FC236}">
                <a16:creationId xmlns:a16="http://schemas.microsoft.com/office/drawing/2014/main" id="{8F0F5857-DC52-CD65-2562-DBE420A42A60}"/>
              </a:ext>
            </a:extLst>
          </p:cNvPr>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extLst>
      <p:ext uri="{BB962C8B-B14F-4D97-AF65-F5344CB8AC3E}">
        <p14:creationId xmlns:p14="http://schemas.microsoft.com/office/powerpoint/2010/main" val="272299497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220CCCF-80D6-1304-157E-A290AF75E462}"/>
            </a:ext>
          </a:extLst>
        </p:cNvPr>
        <p:cNvGrpSpPr/>
        <p:nvPr/>
      </p:nvGrpSpPr>
      <p:grpSpPr>
        <a:xfrm>
          <a:off x="0" y="0"/>
          <a:ext cx="0" cy="0"/>
          <a:chOff x="0" y="0"/>
          <a:chExt cx="0" cy="0"/>
        </a:xfrm>
      </p:grpSpPr>
      <p:sp>
        <p:nvSpPr>
          <p:cNvPr id="2" name="Header Placeholder 1">
            <a:extLst>
              <a:ext uri="{FF2B5EF4-FFF2-40B4-BE49-F238E27FC236}">
                <a16:creationId xmlns:a16="http://schemas.microsoft.com/office/drawing/2014/main" id="{247ECD01-B635-C183-D589-F945CC0BD4B1}"/>
              </a:ext>
            </a:extLst>
          </p:cNvPr>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a:extLst>
              <a:ext uri="{FF2B5EF4-FFF2-40B4-BE49-F238E27FC236}">
                <a16:creationId xmlns:a16="http://schemas.microsoft.com/office/drawing/2014/main" id="{8DFEA7D8-A69F-1F64-B41B-CF73B6849325}"/>
              </a:ext>
            </a:extLst>
          </p:cNvPr>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a:extLst>
              <a:ext uri="{FF2B5EF4-FFF2-40B4-BE49-F238E27FC236}">
                <a16:creationId xmlns:a16="http://schemas.microsoft.com/office/drawing/2014/main" id="{508B1119-16F6-4022-D4A2-DF9367B546A6}"/>
              </a:ext>
            </a:extLst>
          </p:cNvPr>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a:extLst>
              <a:ext uri="{FF2B5EF4-FFF2-40B4-BE49-F238E27FC236}">
                <a16:creationId xmlns:a16="http://schemas.microsoft.com/office/drawing/2014/main" id="{3F2D67F4-8704-713A-58AC-16EFB94FD1C8}"/>
              </a:ext>
            </a:extLst>
          </p:cNvPr>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a:t>
            </a:r>
          </a:p>
        </p:txBody>
      </p:sp>
      <p:sp>
        <p:nvSpPr>
          <p:cNvPr id="6" name="Footer Placeholder 5">
            <a:extLst>
              <a:ext uri="{FF2B5EF4-FFF2-40B4-BE49-F238E27FC236}">
                <a16:creationId xmlns:a16="http://schemas.microsoft.com/office/drawing/2014/main" id="{D60591E7-0630-F24F-5782-097A73DCDB93}"/>
              </a:ext>
            </a:extLst>
          </p:cNvPr>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a:extLst>
              <a:ext uri="{FF2B5EF4-FFF2-40B4-BE49-F238E27FC236}">
                <a16:creationId xmlns:a16="http://schemas.microsoft.com/office/drawing/2014/main" id="{817E8A8A-30F0-8C60-10ED-15A06BD58D2E}"/>
              </a:ext>
            </a:extLst>
          </p:cNvPr>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extLst>
      <p:ext uri="{BB962C8B-B14F-4D97-AF65-F5344CB8AC3E}">
        <p14:creationId xmlns:p14="http://schemas.microsoft.com/office/powerpoint/2010/main" val="34163209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6C4E5B4-68B7-8E60-D49C-4A07CAD1CBCE}"/>
            </a:ext>
          </a:extLst>
        </p:cNvPr>
        <p:cNvGrpSpPr/>
        <p:nvPr/>
      </p:nvGrpSpPr>
      <p:grpSpPr>
        <a:xfrm>
          <a:off x="0" y="0"/>
          <a:ext cx="0" cy="0"/>
          <a:chOff x="0" y="0"/>
          <a:chExt cx="0" cy="0"/>
        </a:xfrm>
      </p:grpSpPr>
      <p:sp>
        <p:nvSpPr>
          <p:cNvPr id="2" name="Header Placeholder 1">
            <a:extLst>
              <a:ext uri="{FF2B5EF4-FFF2-40B4-BE49-F238E27FC236}">
                <a16:creationId xmlns:a16="http://schemas.microsoft.com/office/drawing/2014/main" id="{9B6A6F82-0AC0-A779-CAC2-6D4D209F4877}"/>
              </a:ext>
            </a:extLst>
          </p:cNvPr>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a:extLst>
              <a:ext uri="{FF2B5EF4-FFF2-40B4-BE49-F238E27FC236}">
                <a16:creationId xmlns:a16="http://schemas.microsoft.com/office/drawing/2014/main" id="{E0DE631B-E65E-B5D0-A5AB-F36A59DDBDB9}"/>
              </a:ext>
            </a:extLst>
          </p:cNvPr>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a:extLst>
              <a:ext uri="{FF2B5EF4-FFF2-40B4-BE49-F238E27FC236}">
                <a16:creationId xmlns:a16="http://schemas.microsoft.com/office/drawing/2014/main" id="{EAA9D07A-AEF0-AF29-6A0C-BCBCBE953FAE}"/>
              </a:ext>
            </a:extLst>
          </p:cNvPr>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a:extLst>
              <a:ext uri="{FF2B5EF4-FFF2-40B4-BE49-F238E27FC236}">
                <a16:creationId xmlns:a16="http://schemas.microsoft.com/office/drawing/2014/main" id="{0FB2B062-2A6A-90B7-FB7A-181D3DEE3756}"/>
              </a:ext>
            </a:extLst>
          </p:cNvPr>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a:t>
            </a:r>
          </a:p>
        </p:txBody>
      </p:sp>
      <p:sp>
        <p:nvSpPr>
          <p:cNvPr id="6" name="Footer Placeholder 5">
            <a:extLst>
              <a:ext uri="{FF2B5EF4-FFF2-40B4-BE49-F238E27FC236}">
                <a16:creationId xmlns:a16="http://schemas.microsoft.com/office/drawing/2014/main" id="{DCF430A5-4468-C474-9E05-13A134F0E195}"/>
              </a:ext>
            </a:extLst>
          </p:cNvPr>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a:extLst>
              <a:ext uri="{FF2B5EF4-FFF2-40B4-BE49-F238E27FC236}">
                <a16:creationId xmlns:a16="http://schemas.microsoft.com/office/drawing/2014/main" id="{919E1AA0-1485-5AB1-AE37-5308434DF306}"/>
              </a:ext>
            </a:extLst>
          </p:cNvPr>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extLst>
      <p:ext uri="{BB962C8B-B14F-4D97-AF65-F5344CB8AC3E}">
        <p14:creationId xmlns:p14="http://schemas.microsoft.com/office/powerpoint/2010/main" val="375351545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326DEA6-3D61-D22A-D380-FC722B493243}"/>
            </a:ext>
          </a:extLst>
        </p:cNvPr>
        <p:cNvGrpSpPr/>
        <p:nvPr/>
      </p:nvGrpSpPr>
      <p:grpSpPr>
        <a:xfrm>
          <a:off x="0" y="0"/>
          <a:ext cx="0" cy="0"/>
          <a:chOff x="0" y="0"/>
          <a:chExt cx="0" cy="0"/>
        </a:xfrm>
      </p:grpSpPr>
      <p:sp>
        <p:nvSpPr>
          <p:cNvPr id="2" name="Header Placeholder 1">
            <a:extLst>
              <a:ext uri="{FF2B5EF4-FFF2-40B4-BE49-F238E27FC236}">
                <a16:creationId xmlns:a16="http://schemas.microsoft.com/office/drawing/2014/main" id="{70C6DC0D-CE7B-6C28-3D7C-14D54E31B1C1}"/>
              </a:ext>
            </a:extLst>
          </p:cNvPr>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a:extLst>
              <a:ext uri="{FF2B5EF4-FFF2-40B4-BE49-F238E27FC236}">
                <a16:creationId xmlns:a16="http://schemas.microsoft.com/office/drawing/2014/main" id="{03D016B7-3DE0-24DD-6F0E-4E64EC5471F2}"/>
              </a:ext>
            </a:extLst>
          </p:cNvPr>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a:extLst>
              <a:ext uri="{FF2B5EF4-FFF2-40B4-BE49-F238E27FC236}">
                <a16:creationId xmlns:a16="http://schemas.microsoft.com/office/drawing/2014/main" id="{BFC0DEBD-591E-EA1D-3ED0-DFEB15EE0A6E}"/>
              </a:ext>
            </a:extLst>
          </p:cNvPr>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a:extLst>
              <a:ext uri="{FF2B5EF4-FFF2-40B4-BE49-F238E27FC236}">
                <a16:creationId xmlns:a16="http://schemas.microsoft.com/office/drawing/2014/main" id="{3B503E43-011E-4D22-51E8-80CC06C66F13}"/>
              </a:ext>
            </a:extLst>
          </p:cNvPr>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a:t>
            </a:r>
          </a:p>
        </p:txBody>
      </p:sp>
      <p:sp>
        <p:nvSpPr>
          <p:cNvPr id="6" name="Footer Placeholder 5">
            <a:extLst>
              <a:ext uri="{FF2B5EF4-FFF2-40B4-BE49-F238E27FC236}">
                <a16:creationId xmlns:a16="http://schemas.microsoft.com/office/drawing/2014/main" id="{823B49BD-2684-897D-34D0-99BA9330CF0A}"/>
              </a:ext>
            </a:extLst>
          </p:cNvPr>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a:extLst>
              <a:ext uri="{FF2B5EF4-FFF2-40B4-BE49-F238E27FC236}">
                <a16:creationId xmlns:a16="http://schemas.microsoft.com/office/drawing/2014/main" id="{8513A10D-BAF3-4010-DE6A-0806B826BEC6}"/>
              </a:ext>
            </a:extLst>
          </p:cNvPr>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extLst>
      <p:ext uri="{BB962C8B-B14F-4D97-AF65-F5344CB8AC3E}">
        <p14:creationId xmlns:p14="http://schemas.microsoft.com/office/powerpoint/2010/main" val="45780872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36597DB-1B37-3C17-F909-39CEB27E24E9}"/>
            </a:ext>
          </a:extLst>
        </p:cNvPr>
        <p:cNvGrpSpPr/>
        <p:nvPr/>
      </p:nvGrpSpPr>
      <p:grpSpPr>
        <a:xfrm>
          <a:off x="0" y="0"/>
          <a:ext cx="0" cy="0"/>
          <a:chOff x="0" y="0"/>
          <a:chExt cx="0" cy="0"/>
        </a:xfrm>
      </p:grpSpPr>
      <p:sp>
        <p:nvSpPr>
          <p:cNvPr id="2" name="Header Placeholder 1">
            <a:extLst>
              <a:ext uri="{FF2B5EF4-FFF2-40B4-BE49-F238E27FC236}">
                <a16:creationId xmlns:a16="http://schemas.microsoft.com/office/drawing/2014/main" id="{9939B97D-63C7-F828-FEC1-4273779E17B3}"/>
              </a:ext>
            </a:extLst>
          </p:cNvPr>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a:extLst>
              <a:ext uri="{FF2B5EF4-FFF2-40B4-BE49-F238E27FC236}">
                <a16:creationId xmlns:a16="http://schemas.microsoft.com/office/drawing/2014/main" id="{7B1C92C0-0929-7BFF-3353-85489AEBD693}"/>
              </a:ext>
            </a:extLst>
          </p:cNvPr>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a:extLst>
              <a:ext uri="{FF2B5EF4-FFF2-40B4-BE49-F238E27FC236}">
                <a16:creationId xmlns:a16="http://schemas.microsoft.com/office/drawing/2014/main" id="{CA6933E0-DAB0-56F2-C67C-6C3C890C9199}"/>
              </a:ext>
            </a:extLst>
          </p:cNvPr>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a:extLst>
              <a:ext uri="{FF2B5EF4-FFF2-40B4-BE49-F238E27FC236}">
                <a16:creationId xmlns:a16="http://schemas.microsoft.com/office/drawing/2014/main" id="{DF92AFD6-A49D-E3B2-DB0C-F405AB1BBA75}"/>
              </a:ext>
            </a:extLst>
          </p:cNvPr>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a:t>
            </a:r>
          </a:p>
        </p:txBody>
      </p:sp>
      <p:sp>
        <p:nvSpPr>
          <p:cNvPr id="6" name="Footer Placeholder 5">
            <a:extLst>
              <a:ext uri="{FF2B5EF4-FFF2-40B4-BE49-F238E27FC236}">
                <a16:creationId xmlns:a16="http://schemas.microsoft.com/office/drawing/2014/main" id="{34ACC7AA-9226-D3F5-764E-F5E734754F87}"/>
              </a:ext>
            </a:extLst>
          </p:cNvPr>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a:extLst>
              <a:ext uri="{FF2B5EF4-FFF2-40B4-BE49-F238E27FC236}">
                <a16:creationId xmlns:a16="http://schemas.microsoft.com/office/drawing/2014/main" id="{4311A004-F500-367B-40B7-56C9ACE171AB}"/>
              </a:ext>
            </a:extLst>
          </p:cNvPr>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extLst>
      <p:ext uri="{BB962C8B-B14F-4D97-AF65-F5344CB8AC3E}">
        <p14:creationId xmlns:p14="http://schemas.microsoft.com/office/powerpoint/2010/main" val="360840042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A1CC82E-354B-F3C2-020A-71D5B5518E2E}"/>
            </a:ext>
          </a:extLst>
        </p:cNvPr>
        <p:cNvGrpSpPr/>
        <p:nvPr/>
      </p:nvGrpSpPr>
      <p:grpSpPr>
        <a:xfrm>
          <a:off x="0" y="0"/>
          <a:ext cx="0" cy="0"/>
          <a:chOff x="0" y="0"/>
          <a:chExt cx="0" cy="0"/>
        </a:xfrm>
      </p:grpSpPr>
      <p:sp>
        <p:nvSpPr>
          <p:cNvPr id="2" name="Header Placeholder 1">
            <a:extLst>
              <a:ext uri="{FF2B5EF4-FFF2-40B4-BE49-F238E27FC236}">
                <a16:creationId xmlns:a16="http://schemas.microsoft.com/office/drawing/2014/main" id="{D81F45F8-1879-C539-2FB2-4B376BA0BD5D}"/>
              </a:ext>
            </a:extLst>
          </p:cNvPr>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a:extLst>
              <a:ext uri="{FF2B5EF4-FFF2-40B4-BE49-F238E27FC236}">
                <a16:creationId xmlns:a16="http://schemas.microsoft.com/office/drawing/2014/main" id="{0292DA86-CD31-61BF-DDE1-F660D1BAE906}"/>
              </a:ext>
            </a:extLst>
          </p:cNvPr>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a:extLst>
              <a:ext uri="{FF2B5EF4-FFF2-40B4-BE49-F238E27FC236}">
                <a16:creationId xmlns:a16="http://schemas.microsoft.com/office/drawing/2014/main" id="{09D1C997-EEC5-AF29-5D56-20C8C979C8CA}"/>
              </a:ext>
            </a:extLst>
          </p:cNvPr>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a:extLst>
              <a:ext uri="{FF2B5EF4-FFF2-40B4-BE49-F238E27FC236}">
                <a16:creationId xmlns:a16="http://schemas.microsoft.com/office/drawing/2014/main" id="{D43053DF-D8C4-479B-F619-80DD7019D69D}"/>
              </a:ext>
            </a:extLst>
          </p:cNvPr>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a:t>
            </a:r>
          </a:p>
        </p:txBody>
      </p:sp>
      <p:sp>
        <p:nvSpPr>
          <p:cNvPr id="6" name="Footer Placeholder 5">
            <a:extLst>
              <a:ext uri="{FF2B5EF4-FFF2-40B4-BE49-F238E27FC236}">
                <a16:creationId xmlns:a16="http://schemas.microsoft.com/office/drawing/2014/main" id="{286BCC83-0EFA-1D8B-3055-DF0BEE61A7A6}"/>
              </a:ext>
            </a:extLst>
          </p:cNvPr>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a:extLst>
              <a:ext uri="{FF2B5EF4-FFF2-40B4-BE49-F238E27FC236}">
                <a16:creationId xmlns:a16="http://schemas.microsoft.com/office/drawing/2014/main" id="{7BB27B61-C3A5-02C2-F24B-DDEAB6D70B57}"/>
              </a:ext>
            </a:extLst>
          </p:cNvPr>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extLst>
      <p:ext uri="{BB962C8B-B14F-4D97-AF65-F5344CB8AC3E}">
        <p14:creationId xmlns:p14="http://schemas.microsoft.com/office/powerpoint/2010/main" val="325800298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14BC26D-A49C-0583-CFFA-F9C26F7CEEB4}"/>
            </a:ext>
          </a:extLst>
        </p:cNvPr>
        <p:cNvGrpSpPr/>
        <p:nvPr/>
      </p:nvGrpSpPr>
      <p:grpSpPr>
        <a:xfrm>
          <a:off x="0" y="0"/>
          <a:ext cx="0" cy="0"/>
          <a:chOff x="0" y="0"/>
          <a:chExt cx="0" cy="0"/>
        </a:xfrm>
      </p:grpSpPr>
      <p:sp>
        <p:nvSpPr>
          <p:cNvPr id="2" name="Header Placeholder 1">
            <a:extLst>
              <a:ext uri="{FF2B5EF4-FFF2-40B4-BE49-F238E27FC236}">
                <a16:creationId xmlns:a16="http://schemas.microsoft.com/office/drawing/2014/main" id="{178485EA-DF2D-3883-87A2-7D6AA71BFC79}"/>
              </a:ext>
            </a:extLst>
          </p:cNvPr>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a:extLst>
              <a:ext uri="{FF2B5EF4-FFF2-40B4-BE49-F238E27FC236}">
                <a16:creationId xmlns:a16="http://schemas.microsoft.com/office/drawing/2014/main" id="{B48655E3-3FAB-846A-BFFF-B0BADD578A9F}"/>
              </a:ext>
            </a:extLst>
          </p:cNvPr>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a:extLst>
              <a:ext uri="{FF2B5EF4-FFF2-40B4-BE49-F238E27FC236}">
                <a16:creationId xmlns:a16="http://schemas.microsoft.com/office/drawing/2014/main" id="{0DAC6BE6-0DE1-F487-3616-1BA6A7FFFD3C}"/>
              </a:ext>
            </a:extLst>
          </p:cNvPr>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a:extLst>
              <a:ext uri="{FF2B5EF4-FFF2-40B4-BE49-F238E27FC236}">
                <a16:creationId xmlns:a16="http://schemas.microsoft.com/office/drawing/2014/main" id="{4C312702-6A5D-119E-F578-CC8DF3D8A5F4}"/>
              </a:ext>
            </a:extLst>
          </p:cNvPr>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a:t>
            </a:r>
          </a:p>
        </p:txBody>
      </p:sp>
      <p:sp>
        <p:nvSpPr>
          <p:cNvPr id="6" name="Footer Placeholder 5">
            <a:extLst>
              <a:ext uri="{FF2B5EF4-FFF2-40B4-BE49-F238E27FC236}">
                <a16:creationId xmlns:a16="http://schemas.microsoft.com/office/drawing/2014/main" id="{B7B13553-ECA1-9203-82CA-441FE6D53E36}"/>
              </a:ext>
            </a:extLst>
          </p:cNvPr>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a:extLst>
              <a:ext uri="{FF2B5EF4-FFF2-40B4-BE49-F238E27FC236}">
                <a16:creationId xmlns:a16="http://schemas.microsoft.com/office/drawing/2014/main" id="{44978319-4C53-D7AE-0DB6-14C2B31A2FCE}"/>
              </a:ext>
            </a:extLst>
          </p:cNvPr>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extLst>
      <p:ext uri="{BB962C8B-B14F-4D97-AF65-F5344CB8AC3E}">
        <p14:creationId xmlns:p14="http://schemas.microsoft.com/office/powerpoint/2010/main" val="122874438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D581D80-5B6E-38B5-C53C-81D186FDFBAC}"/>
            </a:ext>
          </a:extLst>
        </p:cNvPr>
        <p:cNvGrpSpPr/>
        <p:nvPr/>
      </p:nvGrpSpPr>
      <p:grpSpPr>
        <a:xfrm>
          <a:off x="0" y="0"/>
          <a:ext cx="0" cy="0"/>
          <a:chOff x="0" y="0"/>
          <a:chExt cx="0" cy="0"/>
        </a:xfrm>
      </p:grpSpPr>
      <p:sp>
        <p:nvSpPr>
          <p:cNvPr id="2" name="Header Placeholder 1">
            <a:extLst>
              <a:ext uri="{FF2B5EF4-FFF2-40B4-BE49-F238E27FC236}">
                <a16:creationId xmlns:a16="http://schemas.microsoft.com/office/drawing/2014/main" id="{AFD5EC51-9400-DEC1-78B2-A2578442A6BA}"/>
              </a:ext>
            </a:extLst>
          </p:cNvPr>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a:extLst>
              <a:ext uri="{FF2B5EF4-FFF2-40B4-BE49-F238E27FC236}">
                <a16:creationId xmlns:a16="http://schemas.microsoft.com/office/drawing/2014/main" id="{F3471CE8-D514-F6BC-D5CF-4A22D1A4895B}"/>
              </a:ext>
            </a:extLst>
          </p:cNvPr>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a:extLst>
              <a:ext uri="{FF2B5EF4-FFF2-40B4-BE49-F238E27FC236}">
                <a16:creationId xmlns:a16="http://schemas.microsoft.com/office/drawing/2014/main" id="{7C14D497-F6B9-EE21-5068-54B325CDCBEB}"/>
              </a:ext>
            </a:extLst>
          </p:cNvPr>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a:extLst>
              <a:ext uri="{FF2B5EF4-FFF2-40B4-BE49-F238E27FC236}">
                <a16:creationId xmlns:a16="http://schemas.microsoft.com/office/drawing/2014/main" id="{1FAB169A-6F14-077B-EEEA-9429F15D9665}"/>
              </a:ext>
            </a:extLst>
          </p:cNvPr>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a:t>
            </a:r>
          </a:p>
        </p:txBody>
      </p:sp>
      <p:sp>
        <p:nvSpPr>
          <p:cNvPr id="6" name="Footer Placeholder 5">
            <a:extLst>
              <a:ext uri="{FF2B5EF4-FFF2-40B4-BE49-F238E27FC236}">
                <a16:creationId xmlns:a16="http://schemas.microsoft.com/office/drawing/2014/main" id="{A1073F9A-B93E-8778-6FA3-072FA060BF01}"/>
              </a:ext>
            </a:extLst>
          </p:cNvPr>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a:extLst>
              <a:ext uri="{FF2B5EF4-FFF2-40B4-BE49-F238E27FC236}">
                <a16:creationId xmlns:a16="http://schemas.microsoft.com/office/drawing/2014/main" id="{AE4C7A8B-0B65-21C9-1ADD-00D4C96DD7A4}"/>
              </a:ext>
            </a:extLst>
          </p:cNvPr>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extLst>
      <p:ext uri="{BB962C8B-B14F-4D97-AF65-F5344CB8AC3E}">
        <p14:creationId xmlns:p14="http://schemas.microsoft.com/office/powerpoint/2010/main" val="360593821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F9CE34-C318-DFFA-B71E-5CC4D4E2AB50}"/>
            </a:ext>
          </a:extLst>
        </p:cNvPr>
        <p:cNvGrpSpPr/>
        <p:nvPr/>
      </p:nvGrpSpPr>
      <p:grpSpPr>
        <a:xfrm>
          <a:off x="0" y="0"/>
          <a:ext cx="0" cy="0"/>
          <a:chOff x="0" y="0"/>
          <a:chExt cx="0" cy="0"/>
        </a:xfrm>
      </p:grpSpPr>
      <p:sp>
        <p:nvSpPr>
          <p:cNvPr id="2" name="Header Placeholder 1">
            <a:extLst>
              <a:ext uri="{FF2B5EF4-FFF2-40B4-BE49-F238E27FC236}">
                <a16:creationId xmlns:a16="http://schemas.microsoft.com/office/drawing/2014/main" id="{EB2CADA8-3746-41C7-8AC7-B1AA3685CF3A}"/>
              </a:ext>
            </a:extLst>
          </p:cNvPr>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a:extLst>
              <a:ext uri="{FF2B5EF4-FFF2-40B4-BE49-F238E27FC236}">
                <a16:creationId xmlns:a16="http://schemas.microsoft.com/office/drawing/2014/main" id="{B33FAA19-CB0A-0CEB-7AFB-556A7AC1615F}"/>
              </a:ext>
            </a:extLst>
          </p:cNvPr>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a:extLst>
              <a:ext uri="{FF2B5EF4-FFF2-40B4-BE49-F238E27FC236}">
                <a16:creationId xmlns:a16="http://schemas.microsoft.com/office/drawing/2014/main" id="{E70029F7-7EE4-8AFF-E798-2CD7A853F20B}"/>
              </a:ext>
            </a:extLst>
          </p:cNvPr>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a:extLst>
              <a:ext uri="{FF2B5EF4-FFF2-40B4-BE49-F238E27FC236}">
                <a16:creationId xmlns:a16="http://schemas.microsoft.com/office/drawing/2014/main" id="{84D197DA-B170-C876-6757-8852C5B95293}"/>
              </a:ext>
            </a:extLst>
          </p:cNvPr>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a:t>
            </a:r>
          </a:p>
        </p:txBody>
      </p:sp>
      <p:sp>
        <p:nvSpPr>
          <p:cNvPr id="6" name="Footer Placeholder 5">
            <a:extLst>
              <a:ext uri="{FF2B5EF4-FFF2-40B4-BE49-F238E27FC236}">
                <a16:creationId xmlns:a16="http://schemas.microsoft.com/office/drawing/2014/main" id="{37425FF0-69FC-5472-7AC7-94EBFAE5E81A}"/>
              </a:ext>
            </a:extLst>
          </p:cNvPr>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a:extLst>
              <a:ext uri="{FF2B5EF4-FFF2-40B4-BE49-F238E27FC236}">
                <a16:creationId xmlns:a16="http://schemas.microsoft.com/office/drawing/2014/main" id="{A2C641B7-BA12-05A1-62D0-D2031282B685}"/>
              </a:ext>
            </a:extLst>
          </p:cNvPr>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extLst>
      <p:ext uri="{BB962C8B-B14F-4D97-AF65-F5344CB8AC3E}">
        <p14:creationId xmlns:p14="http://schemas.microsoft.com/office/powerpoint/2010/main" val="354187003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D6ED628-F0EF-FE48-BC89-4BA5E9573F2E}"/>
            </a:ext>
          </a:extLst>
        </p:cNvPr>
        <p:cNvGrpSpPr/>
        <p:nvPr/>
      </p:nvGrpSpPr>
      <p:grpSpPr>
        <a:xfrm>
          <a:off x="0" y="0"/>
          <a:ext cx="0" cy="0"/>
          <a:chOff x="0" y="0"/>
          <a:chExt cx="0" cy="0"/>
        </a:xfrm>
      </p:grpSpPr>
      <p:sp>
        <p:nvSpPr>
          <p:cNvPr id="2" name="Header Placeholder 1">
            <a:extLst>
              <a:ext uri="{FF2B5EF4-FFF2-40B4-BE49-F238E27FC236}">
                <a16:creationId xmlns:a16="http://schemas.microsoft.com/office/drawing/2014/main" id="{671E6ED5-689E-E098-A1FE-A619C080FCA5}"/>
              </a:ext>
            </a:extLst>
          </p:cNvPr>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a:extLst>
              <a:ext uri="{FF2B5EF4-FFF2-40B4-BE49-F238E27FC236}">
                <a16:creationId xmlns:a16="http://schemas.microsoft.com/office/drawing/2014/main" id="{A8BC97BA-1EDF-349A-5FC0-7CFACD84810C}"/>
              </a:ext>
            </a:extLst>
          </p:cNvPr>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a:extLst>
              <a:ext uri="{FF2B5EF4-FFF2-40B4-BE49-F238E27FC236}">
                <a16:creationId xmlns:a16="http://schemas.microsoft.com/office/drawing/2014/main" id="{A2FB74F8-390B-EA8D-90D5-A13486549A0A}"/>
              </a:ext>
            </a:extLst>
          </p:cNvPr>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a:extLst>
              <a:ext uri="{FF2B5EF4-FFF2-40B4-BE49-F238E27FC236}">
                <a16:creationId xmlns:a16="http://schemas.microsoft.com/office/drawing/2014/main" id="{AB49D174-718B-69AD-31B2-94B316D8876C}"/>
              </a:ext>
            </a:extLst>
          </p:cNvPr>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a:t>
            </a:r>
          </a:p>
        </p:txBody>
      </p:sp>
      <p:sp>
        <p:nvSpPr>
          <p:cNvPr id="6" name="Footer Placeholder 5">
            <a:extLst>
              <a:ext uri="{FF2B5EF4-FFF2-40B4-BE49-F238E27FC236}">
                <a16:creationId xmlns:a16="http://schemas.microsoft.com/office/drawing/2014/main" id="{4C57E21B-692F-24B7-9C21-915D595F4D6D}"/>
              </a:ext>
            </a:extLst>
          </p:cNvPr>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a:extLst>
              <a:ext uri="{FF2B5EF4-FFF2-40B4-BE49-F238E27FC236}">
                <a16:creationId xmlns:a16="http://schemas.microsoft.com/office/drawing/2014/main" id="{6E4408B5-F15C-7459-16DA-28944C43841E}"/>
              </a:ext>
            </a:extLst>
          </p:cNvPr>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extLst>
      <p:ext uri="{BB962C8B-B14F-4D97-AF65-F5344CB8AC3E}">
        <p14:creationId xmlns:p14="http://schemas.microsoft.com/office/powerpoint/2010/main" val="351766146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03D1927-C9F8-D466-6374-56DBDD435510}"/>
            </a:ext>
          </a:extLst>
        </p:cNvPr>
        <p:cNvGrpSpPr/>
        <p:nvPr/>
      </p:nvGrpSpPr>
      <p:grpSpPr>
        <a:xfrm>
          <a:off x="0" y="0"/>
          <a:ext cx="0" cy="0"/>
          <a:chOff x="0" y="0"/>
          <a:chExt cx="0" cy="0"/>
        </a:xfrm>
      </p:grpSpPr>
      <p:sp>
        <p:nvSpPr>
          <p:cNvPr id="2" name="Header Placeholder 1">
            <a:extLst>
              <a:ext uri="{FF2B5EF4-FFF2-40B4-BE49-F238E27FC236}">
                <a16:creationId xmlns:a16="http://schemas.microsoft.com/office/drawing/2014/main" id="{B3A8EE75-3DAA-4841-F9C7-85CC8742853A}"/>
              </a:ext>
            </a:extLst>
          </p:cNvPr>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a:extLst>
              <a:ext uri="{FF2B5EF4-FFF2-40B4-BE49-F238E27FC236}">
                <a16:creationId xmlns:a16="http://schemas.microsoft.com/office/drawing/2014/main" id="{BF4D2C51-B081-D535-0532-5A021B90CF89}"/>
              </a:ext>
            </a:extLst>
          </p:cNvPr>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a:extLst>
              <a:ext uri="{FF2B5EF4-FFF2-40B4-BE49-F238E27FC236}">
                <a16:creationId xmlns:a16="http://schemas.microsoft.com/office/drawing/2014/main" id="{AE3FC2A6-3D89-35BB-AEAB-BB4E5F522BF9}"/>
              </a:ext>
            </a:extLst>
          </p:cNvPr>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a:extLst>
              <a:ext uri="{FF2B5EF4-FFF2-40B4-BE49-F238E27FC236}">
                <a16:creationId xmlns:a16="http://schemas.microsoft.com/office/drawing/2014/main" id="{9A7951F4-4622-7AD1-4751-BA2746A12279}"/>
              </a:ext>
            </a:extLst>
          </p:cNvPr>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a:t>
            </a:r>
          </a:p>
        </p:txBody>
      </p:sp>
      <p:sp>
        <p:nvSpPr>
          <p:cNvPr id="6" name="Footer Placeholder 5">
            <a:extLst>
              <a:ext uri="{FF2B5EF4-FFF2-40B4-BE49-F238E27FC236}">
                <a16:creationId xmlns:a16="http://schemas.microsoft.com/office/drawing/2014/main" id="{F34AE908-A02D-1ED7-1338-C8BC82D2E548}"/>
              </a:ext>
            </a:extLst>
          </p:cNvPr>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a:extLst>
              <a:ext uri="{FF2B5EF4-FFF2-40B4-BE49-F238E27FC236}">
                <a16:creationId xmlns:a16="http://schemas.microsoft.com/office/drawing/2014/main" id="{AEC0858C-4F5F-BAE8-B107-1DC4B30FEF6D}"/>
              </a:ext>
            </a:extLst>
          </p:cNvPr>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extLst>
      <p:ext uri="{BB962C8B-B14F-4D97-AF65-F5344CB8AC3E}">
        <p14:creationId xmlns:p14="http://schemas.microsoft.com/office/powerpoint/2010/main" val="249248807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4668C19-EAF7-D251-51CC-0743665A2AB2}"/>
            </a:ext>
          </a:extLst>
        </p:cNvPr>
        <p:cNvGrpSpPr/>
        <p:nvPr/>
      </p:nvGrpSpPr>
      <p:grpSpPr>
        <a:xfrm>
          <a:off x="0" y="0"/>
          <a:ext cx="0" cy="0"/>
          <a:chOff x="0" y="0"/>
          <a:chExt cx="0" cy="0"/>
        </a:xfrm>
      </p:grpSpPr>
      <p:sp>
        <p:nvSpPr>
          <p:cNvPr id="2" name="Header Placeholder 1">
            <a:extLst>
              <a:ext uri="{FF2B5EF4-FFF2-40B4-BE49-F238E27FC236}">
                <a16:creationId xmlns:a16="http://schemas.microsoft.com/office/drawing/2014/main" id="{3D7525B3-F769-C537-31FA-557B244BA43C}"/>
              </a:ext>
            </a:extLst>
          </p:cNvPr>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a:extLst>
              <a:ext uri="{FF2B5EF4-FFF2-40B4-BE49-F238E27FC236}">
                <a16:creationId xmlns:a16="http://schemas.microsoft.com/office/drawing/2014/main" id="{4C4686F1-2D7A-6B25-9AB9-FAD713DC9CFF}"/>
              </a:ext>
            </a:extLst>
          </p:cNvPr>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a:extLst>
              <a:ext uri="{FF2B5EF4-FFF2-40B4-BE49-F238E27FC236}">
                <a16:creationId xmlns:a16="http://schemas.microsoft.com/office/drawing/2014/main" id="{CC997177-0AD1-1836-D78C-E979CA4B2C83}"/>
              </a:ext>
            </a:extLst>
          </p:cNvPr>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a:extLst>
              <a:ext uri="{FF2B5EF4-FFF2-40B4-BE49-F238E27FC236}">
                <a16:creationId xmlns:a16="http://schemas.microsoft.com/office/drawing/2014/main" id="{729D8AC3-008C-1818-2A2F-5C4ECBCD8E4A}"/>
              </a:ext>
            </a:extLst>
          </p:cNvPr>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a:t>
            </a:r>
          </a:p>
        </p:txBody>
      </p:sp>
      <p:sp>
        <p:nvSpPr>
          <p:cNvPr id="6" name="Footer Placeholder 5">
            <a:extLst>
              <a:ext uri="{FF2B5EF4-FFF2-40B4-BE49-F238E27FC236}">
                <a16:creationId xmlns:a16="http://schemas.microsoft.com/office/drawing/2014/main" id="{966E98E5-7B06-5A69-8D90-10330BA88F0D}"/>
              </a:ext>
            </a:extLst>
          </p:cNvPr>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a:extLst>
              <a:ext uri="{FF2B5EF4-FFF2-40B4-BE49-F238E27FC236}">
                <a16:creationId xmlns:a16="http://schemas.microsoft.com/office/drawing/2014/main" id="{86815C3C-A72E-9C35-5459-C937652B29B6}"/>
              </a:ext>
            </a:extLst>
          </p:cNvPr>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extLst>
      <p:ext uri="{BB962C8B-B14F-4D97-AF65-F5344CB8AC3E}">
        <p14:creationId xmlns:p14="http://schemas.microsoft.com/office/powerpoint/2010/main" val="198736606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2D80B78-63B3-390D-F243-990E8DB89F51}"/>
            </a:ext>
          </a:extLst>
        </p:cNvPr>
        <p:cNvGrpSpPr/>
        <p:nvPr/>
      </p:nvGrpSpPr>
      <p:grpSpPr>
        <a:xfrm>
          <a:off x="0" y="0"/>
          <a:ext cx="0" cy="0"/>
          <a:chOff x="0" y="0"/>
          <a:chExt cx="0" cy="0"/>
        </a:xfrm>
      </p:grpSpPr>
      <p:sp>
        <p:nvSpPr>
          <p:cNvPr id="2" name="Header Placeholder 1">
            <a:extLst>
              <a:ext uri="{FF2B5EF4-FFF2-40B4-BE49-F238E27FC236}">
                <a16:creationId xmlns:a16="http://schemas.microsoft.com/office/drawing/2014/main" id="{5FD4C7B3-DC97-4B84-996A-CE934AB18657}"/>
              </a:ext>
            </a:extLst>
          </p:cNvPr>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a:extLst>
              <a:ext uri="{FF2B5EF4-FFF2-40B4-BE49-F238E27FC236}">
                <a16:creationId xmlns:a16="http://schemas.microsoft.com/office/drawing/2014/main" id="{F6809B1C-5E2F-8198-46A5-E589E133006F}"/>
              </a:ext>
            </a:extLst>
          </p:cNvPr>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a:extLst>
              <a:ext uri="{FF2B5EF4-FFF2-40B4-BE49-F238E27FC236}">
                <a16:creationId xmlns:a16="http://schemas.microsoft.com/office/drawing/2014/main" id="{BADABE25-3DA1-40E9-23F5-592DB57DC497}"/>
              </a:ext>
            </a:extLst>
          </p:cNvPr>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a:extLst>
              <a:ext uri="{FF2B5EF4-FFF2-40B4-BE49-F238E27FC236}">
                <a16:creationId xmlns:a16="http://schemas.microsoft.com/office/drawing/2014/main" id="{D08C381F-9823-171B-DE4A-0AF4BD4A1726}"/>
              </a:ext>
            </a:extLst>
          </p:cNvPr>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a:t>
            </a:r>
          </a:p>
        </p:txBody>
      </p:sp>
      <p:sp>
        <p:nvSpPr>
          <p:cNvPr id="6" name="Footer Placeholder 5">
            <a:extLst>
              <a:ext uri="{FF2B5EF4-FFF2-40B4-BE49-F238E27FC236}">
                <a16:creationId xmlns:a16="http://schemas.microsoft.com/office/drawing/2014/main" id="{8130CC6D-99A3-640F-95A8-36455437D2A3}"/>
              </a:ext>
            </a:extLst>
          </p:cNvPr>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a:extLst>
              <a:ext uri="{FF2B5EF4-FFF2-40B4-BE49-F238E27FC236}">
                <a16:creationId xmlns:a16="http://schemas.microsoft.com/office/drawing/2014/main" id="{843EA03A-849D-7D57-BCA5-D9A9C7C142B2}"/>
              </a:ext>
            </a:extLst>
          </p:cNvPr>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extLst>
      <p:ext uri="{BB962C8B-B14F-4D97-AF65-F5344CB8AC3E}">
        <p14:creationId xmlns:p14="http://schemas.microsoft.com/office/powerpoint/2010/main" val="6902529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a:pPr/>
              <a:t>5/21/2026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a:pPr/>
              <a:t>5/21/2026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a:pPr/>
              <a:t>5/21/2026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a:pPr/>
              <a:t>5/21/2026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a:pPr/>
              <a:t>5/21/2026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a:pPr/>
              <a:t>5/21/2026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a:pPr/>
              <a:t>‹#›</a:t>
            </a:fld>
            <a:endParaRPr lang="en-US"/>
          </a:p>
        </p:txBody>
      </p:sp>
    </p:spTree>
  </p:cSld>
  <p:clrMap bg1="lt1" tx1="dk1" bg2="lt2" tx2="dk2" accent1="accent1" accent2="accent2" accent3="accent3" accent4="accent4" accent5="accent5" accent6="accent6" hlink="hlink" folHlink="folHlink"/>
  <p:sldLayoutIdLst>
    <p:sldLayoutId id="2147483661" r:id="rId1"/>
    <p:sldLayoutId id="2147483663" r:id="rId2"/>
    <p:sldLayoutId id="2147483664" r:id="rId3"/>
    <p:sldLayoutId id="2147483670" r:id="rId4"/>
    <p:sldLayoutId id="2147483671" r:id="rId5"/>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notesSlide" Target="../notesSlides/notesSlide1.xml"/><Relationship Id="rId1" Type="http://schemas.openxmlformats.org/officeDocument/2006/relationships/slideLayout" Target="../slideLayouts/slideLayout2.xml"/><Relationship Id="rId5" Type="http://schemas.openxmlformats.org/officeDocument/2006/relationships/image" Target="../media/image2.png"/><Relationship Id="rId4" Type="http://schemas.openxmlformats.org/officeDocument/2006/relationships/image" Target="../media/image1.pn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xml"/><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8.xml"/><Relationship Id="rId1" Type="http://schemas.openxmlformats.org/officeDocument/2006/relationships/slideLayout" Target="../slideLayouts/slideLayout2.xml"/><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image" Target="../media/image7.png"/></Relationships>
</file>

<file path=ppt/slides/_rels/slide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9.xml"/><Relationship Id="rId1" Type="http://schemas.openxmlformats.org/officeDocument/2006/relationships/slideLayout" Target="../slideLayouts/slideLayout2.xml"/><Relationship Id="rId6" Type="http://schemas.openxmlformats.org/officeDocument/2006/relationships/image" Target="../media/image13.png"/><Relationship Id="rId5" Type="http://schemas.openxmlformats.org/officeDocument/2006/relationships/image" Target="../media/image12.png"/><Relationship Id="rId4" Type="http://schemas.openxmlformats.org/officeDocument/2006/relationships/image" Target="../media/image11.png"/></Relationships>
</file>

<file path=ppt/slides/_rels/slide10.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0.xml"/><Relationship Id="rId1" Type="http://schemas.openxmlformats.org/officeDocument/2006/relationships/slideLayout" Target="../slideLayouts/slideLayout2.xml"/><Relationship Id="rId6" Type="http://schemas.openxmlformats.org/officeDocument/2006/relationships/image" Target="../media/image16.png"/><Relationship Id="rId5" Type="http://schemas.openxmlformats.org/officeDocument/2006/relationships/image" Target="../media/image15.png"/><Relationship Id="rId4" Type="http://schemas.openxmlformats.org/officeDocument/2006/relationships/image" Target="../media/image6.png"/></Relationships>
</file>

<file path=ppt/slides/_rels/slide11.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1.xml"/><Relationship Id="rId1" Type="http://schemas.openxmlformats.org/officeDocument/2006/relationships/slideLayout" Target="../slideLayouts/slideLayout2.xml"/><Relationship Id="rId6" Type="http://schemas.openxmlformats.org/officeDocument/2006/relationships/image" Target="../media/image20.png"/><Relationship Id="rId5" Type="http://schemas.openxmlformats.org/officeDocument/2006/relationships/image" Target="../media/image19.png"/><Relationship Id="rId4" Type="http://schemas.openxmlformats.org/officeDocument/2006/relationships/image" Target="../media/image18.png"/></Relationships>
</file>

<file path=ppt/slides/_rels/slide12.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2.xml"/><Relationship Id="rId1" Type="http://schemas.openxmlformats.org/officeDocument/2006/relationships/slideLayout" Target="../slideLayouts/slideLayout2.xml"/><Relationship Id="rId6" Type="http://schemas.openxmlformats.org/officeDocument/2006/relationships/image" Target="../media/image24.png"/><Relationship Id="rId5" Type="http://schemas.openxmlformats.org/officeDocument/2006/relationships/image" Target="../media/image23.png"/><Relationship Id="rId4" Type="http://schemas.openxmlformats.org/officeDocument/2006/relationships/image" Target="../media/image22.png"/></Relationships>
</file>

<file path=ppt/slides/_rels/slide13.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grpSp>
        <p:nvGrpSpPr>
          <p:cNvPr id="2" name="Group 2"/>
          <p:cNvGrpSpPr/>
          <p:nvPr/>
        </p:nvGrpSpPr>
        <p:grpSpPr>
          <a:xfrm>
            <a:off x="0" y="0"/>
            <a:ext cx="18288000" cy="10287000"/>
            <a:chOff x="0" y="0"/>
            <a:chExt cx="24384000" cy="13716000"/>
          </a:xfrm>
        </p:grpSpPr>
        <p:sp>
          <p:nvSpPr>
            <p:cNvPr id="3" name="Freeform 3"/>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close/>
                </a:path>
              </a:pathLst>
            </a:custGeom>
            <a:solidFill>
              <a:srgbClr val="50738C"/>
            </a:solidFill>
          </p:spPr>
          <p:txBody>
            <a:bodyPr/>
            <a:lstStyle/>
            <a:p>
              <a:endParaRPr lang="en-US"/>
            </a:p>
          </p:txBody>
        </p:sp>
      </p:grpSp>
      <p:grpSp>
        <p:nvGrpSpPr>
          <p:cNvPr id="4" name="Group 4"/>
          <p:cNvGrpSpPr/>
          <p:nvPr/>
        </p:nvGrpSpPr>
        <p:grpSpPr>
          <a:xfrm>
            <a:off x="29028" y="14514"/>
            <a:ext cx="18288000" cy="10287000"/>
            <a:chOff x="0" y="0"/>
            <a:chExt cx="24384000" cy="13716000"/>
          </a:xfrm>
        </p:grpSpPr>
        <p:sp>
          <p:nvSpPr>
            <p:cNvPr id="5" name="Freeform 5"/>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close/>
                </a:path>
              </a:pathLst>
            </a:custGeom>
            <a:solidFill>
              <a:srgbClr val="FFFCF5"/>
            </a:solidFill>
          </p:spPr>
          <p:txBody>
            <a:bodyPr/>
            <a:lstStyle/>
            <a:p>
              <a:endParaRPr lang="en-US"/>
            </a:p>
          </p:txBody>
        </p:sp>
      </p:grpSp>
      <p:grpSp>
        <p:nvGrpSpPr>
          <p:cNvPr id="6" name="Group 6"/>
          <p:cNvGrpSpPr/>
          <p:nvPr/>
        </p:nvGrpSpPr>
        <p:grpSpPr>
          <a:xfrm>
            <a:off x="16058359" y="9688982"/>
            <a:ext cx="2143687" cy="512064"/>
            <a:chOff x="0" y="0"/>
            <a:chExt cx="2858249" cy="682752"/>
          </a:xfrm>
        </p:grpSpPr>
        <p:sp>
          <p:nvSpPr>
            <p:cNvPr id="7" name="Freeform 7" descr="preencoded.png">
              <a:hlinkClick r:id="rId3" tooltip="https://gamma.app/?utm_source=made-with-gamma"/>
            </p:cNvPr>
            <p:cNvSpPr/>
            <p:nvPr/>
          </p:nvSpPr>
          <p:spPr>
            <a:xfrm>
              <a:off x="0" y="0"/>
              <a:ext cx="2858262" cy="682752"/>
            </a:xfrm>
            <a:custGeom>
              <a:avLst/>
              <a:gdLst/>
              <a:ahLst/>
              <a:cxnLst/>
              <a:rect l="l" t="t" r="r" b="b"/>
              <a:pathLst>
                <a:path w="2858262" h="682752">
                  <a:moveTo>
                    <a:pt x="0" y="0"/>
                  </a:moveTo>
                  <a:lnTo>
                    <a:pt x="2858262" y="0"/>
                  </a:lnTo>
                  <a:lnTo>
                    <a:pt x="2858262" y="682752"/>
                  </a:lnTo>
                  <a:lnTo>
                    <a:pt x="0" y="682752"/>
                  </a:lnTo>
                  <a:lnTo>
                    <a:pt x="0" y="0"/>
                  </a:lnTo>
                  <a:close/>
                </a:path>
              </a:pathLst>
            </a:custGeom>
            <a:blipFill>
              <a:blip r:embed="rId4"/>
              <a:stretch>
                <a:fillRect/>
              </a:stretch>
            </a:blipFill>
          </p:spPr>
          <p:txBody>
            <a:bodyPr/>
            <a:lstStyle/>
            <a:p>
              <a:endParaRPr lang="en-US"/>
            </a:p>
          </p:txBody>
        </p:sp>
      </p:grpSp>
      <p:grpSp>
        <p:nvGrpSpPr>
          <p:cNvPr id="8" name="Group 8"/>
          <p:cNvGrpSpPr/>
          <p:nvPr/>
        </p:nvGrpSpPr>
        <p:grpSpPr>
          <a:xfrm>
            <a:off x="11430000" y="0"/>
            <a:ext cx="6858000" cy="10287000"/>
            <a:chOff x="0" y="0"/>
            <a:chExt cx="9144000" cy="13716000"/>
          </a:xfrm>
        </p:grpSpPr>
        <p:sp>
          <p:nvSpPr>
            <p:cNvPr id="9" name="Freeform 9" descr="preencoded.png"/>
            <p:cNvSpPr/>
            <p:nvPr/>
          </p:nvSpPr>
          <p:spPr>
            <a:xfrm>
              <a:off x="0" y="0"/>
              <a:ext cx="9144000" cy="13716000"/>
            </a:xfrm>
            <a:custGeom>
              <a:avLst/>
              <a:gdLst/>
              <a:ahLst/>
              <a:cxnLst/>
              <a:rect l="l" t="t" r="r" b="b"/>
              <a:pathLst>
                <a:path w="9144000" h="13716000">
                  <a:moveTo>
                    <a:pt x="0" y="0"/>
                  </a:moveTo>
                  <a:lnTo>
                    <a:pt x="9144000" y="0"/>
                  </a:lnTo>
                  <a:lnTo>
                    <a:pt x="9144000" y="13716000"/>
                  </a:lnTo>
                  <a:lnTo>
                    <a:pt x="0" y="13716000"/>
                  </a:lnTo>
                  <a:lnTo>
                    <a:pt x="0" y="0"/>
                  </a:lnTo>
                  <a:close/>
                </a:path>
              </a:pathLst>
            </a:custGeom>
            <a:blipFill>
              <a:blip r:embed="rId5"/>
              <a:stretch>
                <a:fillRect/>
              </a:stretch>
            </a:blipFill>
          </p:spPr>
          <p:txBody>
            <a:bodyPr/>
            <a:lstStyle/>
            <a:p>
              <a:endParaRPr lang="en-US"/>
            </a:p>
          </p:txBody>
        </p:sp>
      </p:grpSp>
      <p:sp>
        <p:nvSpPr>
          <p:cNvPr id="10" name="TextBox 10"/>
          <p:cNvSpPr txBox="1"/>
          <p:nvPr/>
        </p:nvSpPr>
        <p:spPr>
          <a:xfrm>
            <a:off x="999496" y="2205447"/>
            <a:ext cx="9445523" cy="4564391"/>
          </a:xfrm>
          <a:prstGeom prst="rect">
            <a:avLst/>
          </a:prstGeom>
        </p:spPr>
        <p:txBody>
          <a:bodyPr lIns="0" tIns="0" rIns="0" bIns="0" rtlCol="0" anchor="t">
            <a:spAutoFit/>
          </a:bodyPr>
          <a:lstStyle/>
          <a:p>
            <a:pPr algn="l">
              <a:lnSpc>
                <a:spcPts val="5990"/>
              </a:lnSpc>
            </a:pPr>
            <a:r>
              <a:rPr lang="en-US" sz="4800" b="1" dirty="0" err="1">
                <a:solidFill>
                  <a:srgbClr val="124E73"/>
                </a:solidFill>
                <a:latin typeface="Museo Moderno Medium"/>
                <a:ea typeface="Museo Moderno Medium"/>
                <a:cs typeface="Museo Moderno Medium"/>
                <a:sym typeface="Museo Moderno Medium"/>
              </a:rPr>
              <a:t>Decodelabs</a:t>
            </a:r>
            <a:r>
              <a:rPr lang="en-US" sz="4800" b="1" dirty="0">
                <a:solidFill>
                  <a:srgbClr val="124E73"/>
                </a:solidFill>
                <a:latin typeface="Museo Moderno Medium"/>
                <a:ea typeface="Museo Moderno Medium"/>
                <a:cs typeface="Museo Moderno Medium"/>
                <a:sym typeface="Museo Moderno Medium"/>
              </a:rPr>
              <a:t> project 1 &amp; 2</a:t>
            </a:r>
          </a:p>
          <a:p>
            <a:pPr algn="l">
              <a:lnSpc>
                <a:spcPts val="5990"/>
              </a:lnSpc>
            </a:pPr>
            <a:r>
              <a:rPr lang="en-US" sz="4800" b="1" dirty="0">
                <a:solidFill>
                  <a:srgbClr val="124E73"/>
                </a:solidFill>
                <a:latin typeface="Museo Moderno Medium"/>
                <a:ea typeface="Museo Moderno Medium"/>
                <a:cs typeface="Museo Moderno Medium"/>
                <a:sym typeface="Museo Moderno Medium"/>
              </a:rPr>
              <a:t>Name : Hamza Mahmoud</a:t>
            </a:r>
          </a:p>
          <a:p>
            <a:pPr algn="l">
              <a:lnSpc>
                <a:spcPts val="5990"/>
              </a:lnSpc>
            </a:pPr>
            <a:r>
              <a:rPr lang="en-US" sz="4800" b="1" dirty="0">
                <a:solidFill>
                  <a:srgbClr val="124E73"/>
                </a:solidFill>
                <a:latin typeface="Museo Moderno Medium"/>
                <a:ea typeface="Museo Moderno Medium"/>
                <a:cs typeface="Museo Moderno Medium"/>
                <a:sym typeface="Museo Moderno Medium"/>
              </a:rPr>
              <a:t>Goal : Discover patterns , trends , and relationships</a:t>
            </a:r>
          </a:p>
          <a:p>
            <a:pPr algn="l">
              <a:lnSpc>
                <a:spcPts val="5990"/>
              </a:lnSpc>
            </a:pPr>
            <a:r>
              <a:rPr lang="en-US" sz="4800" b="1" dirty="0">
                <a:solidFill>
                  <a:srgbClr val="124E73"/>
                </a:solidFill>
                <a:latin typeface="Museo Moderno Medium"/>
                <a:ea typeface="Museo Moderno Medium"/>
                <a:cs typeface="Museo Moderno Medium"/>
                <a:sym typeface="Museo Moderno Medium"/>
              </a:rPr>
              <a:t>Tools : python (Pandas , SciPy , seaborn, matplotlib)</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a:extLst>
            <a:ext uri="{FF2B5EF4-FFF2-40B4-BE49-F238E27FC236}">
              <a16:creationId xmlns:a16="http://schemas.microsoft.com/office/drawing/2014/main" id="{4EB9D53A-D613-A26D-BA56-85485F464EAB}"/>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484E0F78-4E46-87A1-9EF6-3BA3679E60FF}"/>
              </a:ext>
            </a:extLst>
          </p:cNvPr>
          <p:cNvGrpSpPr/>
          <p:nvPr/>
        </p:nvGrpSpPr>
        <p:grpSpPr>
          <a:xfrm>
            <a:off x="0" y="0"/>
            <a:ext cx="18288000" cy="10287000"/>
            <a:chOff x="0" y="0"/>
            <a:chExt cx="24384000" cy="13716000"/>
          </a:xfrm>
        </p:grpSpPr>
        <p:sp>
          <p:nvSpPr>
            <p:cNvPr id="3" name="Freeform 3">
              <a:extLst>
                <a:ext uri="{FF2B5EF4-FFF2-40B4-BE49-F238E27FC236}">
                  <a16:creationId xmlns:a16="http://schemas.microsoft.com/office/drawing/2014/main" id="{4965FDE8-15F1-0977-244F-D16630FC982B}"/>
                </a:ext>
              </a:extLst>
            </p:cNvPr>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close/>
                </a:path>
              </a:pathLst>
            </a:custGeom>
            <a:solidFill>
              <a:srgbClr val="50738C"/>
            </a:solidFill>
          </p:spPr>
          <p:txBody>
            <a:bodyPr/>
            <a:lstStyle/>
            <a:p>
              <a:endParaRPr lang="en-US"/>
            </a:p>
          </p:txBody>
        </p:sp>
      </p:grpSp>
      <p:grpSp>
        <p:nvGrpSpPr>
          <p:cNvPr id="4" name="Group 4">
            <a:extLst>
              <a:ext uri="{FF2B5EF4-FFF2-40B4-BE49-F238E27FC236}">
                <a16:creationId xmlns:a16="http://schemas.microsoft.com/office/drawing/2014/main" id="{91795148-8437-AAE0-9368-708A9D089904}"/>
              </a:ext>
            </a:extLst>
          </p:cNvPr>
          <p:cNvGrpSpPr/>
          <p:nvPr/>
        </p:nvGrpSpPr>
        <p:grpSpPr>
          <a:xfrm>
            <a:off x="14514" y="0"/>
            <a:ext cx="18288000" cy="10287000"/>
            <a:chOff x="0" y="0"/>
            <a:chExt cx="24384000" cy="13716000"/>
          </a:xfrm>
        </p:grpSpPr>
        <p:sp>
          <p:nvSpPr>
            <p:cNvPr id="5" name="Freeform 5">
              <a:extLst>
                <a:ext uri="{FF2B5EF4-FFF2-40B4-BE49-F238E27FC236}">
                  <a16:creationId xmlns:a16="http://schemas.microsoft.com/office/drawing/2014/main" id="{0C114ABD-13C4-9446-370C-D2D8B4263E55}"/>
                </a:ext>
              </a:extLst>
            </p:cNvPr>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close/>
                </a:path>
              </a:pathLst>
            </a:custGeom>
            <a:solidFill>
              <a:srgbClr val="FFFCF5"/>
            </a:solidFill>
          </p:spPr>
          <p:txBody>
            <a:bodyPr/>
            <a:lstStyle/>
            <a:p>
              <a:endParaRPr lang="en-US"/>
            </a:p>
          </p:txBody>
        </p:sp>
      </p:grpSp>
      <p:sp>
        <p:nvSpPr>
          <p:cNvPr id="10" name="TextBox 10">
            <a:extLst>
              <a:ext uri="{FF2B5EF4-FFF2-40B4-BE49-F238E27FC236}">
                <a16:creationId xmlns:a16="http://schemas.microsoft.com/office/drawing/2014/main" id="{89987A78-B567-E18B-2A9A-315D23DA6372}"/>
              </a:ext>
            </a:extLst>
          </p:cNvPr>
          <p:cNvSpPr txBox="1"/>
          <p:nvPr/>
        </p:nvSpPr>
        <p:spPr>
          <a:xfrm>
            <a:off x="687439" y="608875"/>
            <a:ext cx="14465475" cy="9157700"/>
          </a:xfrm>
          <a:prstGeom prst="rect">
            <a:avLst/>
          </a:prstGeom>
        </p:spPr>
        <p:txBody>
          <a:bodyPr wrap="square" lIns="0" tIns="0" rIns="0" bIns="0" rtlCol="0" anchor="t">
            <a:spAutoFit/>
          </a:bodyPr>
          <a:lstStyle/>
          <a:p>
            <a:pPr algn="l">
              <a:lnSpc>
                <a:spcPts val="5990"/>
              </a:lnSpc>
            </a:pPr>
            <a:r>
              <a:rPr lang="en-US" sz="4000" b="1" dirty="0">
                <a:solidFill>
                  <a:srgbClr val="124E73"/>
                </a:solidFill>
                <a:latin typeface="Museo Moderno Medium"/>
                <a:ea typeface="Museo Moderno Medium"/>
                <a:cs typeface="Museo Moderno Medium"/>
                <a:sym typeface="Museo Moderno Medium"/>
              </a:rPr>
              <a:t>Data cleaning:</a:t>
            </a:r>
          </a:p>
          <a:p>
            <a:pPr marL="914400" indent="-914400" algn="l">
              <a:lnSpc>
                <a:spcPts val="5990"/>
              </a:lnSpc>
              <a:buFont typeface="+mj-lt"/>
              <a:buAutoNum type="arabicPeriod"/>
            </a:pPr>
            <a:r>
              <a:rPr lang="en-US" sz="4000" b="1" dirty="0">
                <a:solidFill>
                  <a:srgbClr val="124E73"/>
                </a:solidFill>
                <a:latin typeface="Museo Moderno Medium"/>
                <a:ea typeface="Museo Moderno Medium"/>
                <a:cs typeface="Museo Moderno Medium"/>
                <a:sym typeface="Museo Moderno Medium"/>
              </a:rPr>
              <a:t>Checked dataset for null values</a:t>
            </a:r>
          </a:p>
          <a:p>
            <a:pPr marL="914400" indent="-914400" algn="l">
              <a:lnSpc>
                <a:spcPts val="5990"/>
              </a:lnSpc>
              <a:buFont typeface="+mj-lt"/>
              <a:buAutoNum type="arabicPeriod"/>
            </a:pPr>
            <a:r>
              <a:rPr lang="en-US" sz="4000" b="1" dirty="0">
                <a:solidFill>
                  <a:srgbClr val="124E73"/>
                </a:solidFill>
                <a:latin typeface="Museo Moderno Medium"/>
                <a:ea typeface="Museo Moderno Medium"/>
                <a:cs typeface="Museo Moderno Medium"/>
                <a:sym typeface="Museo Moderno Medium"/>
              </a:rPr>
              <a:t>Found 309 missing values in </a:t>
            </a:r>
            <a:r>
              <a:rPr lang="en-US" sz="4000" b="1" dirty="0" err="1">
                <a:solidFill>
                  <a:srgbClr val="124E73"/>
                </a:solidFill>
                <a:latin typeface="Museo Moderno Medium"/>
                <a:ea typeface="Museo Moderno Medium"/>
                <a:cs typeface="Museo Moderno Medium"/>
                <a:sym typeface="Museo Moderno Medium"/>
              </a:rPr>
              <a:t>couponcode</a:t>
            </a:r>
            <a:r>
              <a:rPr lang="en-US" sz="4000" b="1" dirty="0">
                <a:solidFill>
                  <a:srgbClr val="124E73"/>
                </a:solidFill>
                <a:latin typeface="Museo Moderno Medium"/>
                <a:ea typeface="Museo Moderno Medium"/>
                <a:cs typeface="Museo Moderno Medium"/>
                <a:sym typeface="Museo Moderno Medium"/>
              </a:rPr>
              <a:t> column where other columns had no null values</a:t>
            </a:r>
          </a:p>
          <a:p>
            <a:pPr marL="914400" indent="-914400" algn="l">
              <a:lnSpc>
                <a:spcPts val="5990"/>
              </a:lnSpc>
              <a:buFont typeface="+mj-lt"/>
              <a:buAutoNum type="arabicPeriod"/>
            </a:pPr>
            <a:r>
              <a:rPr lang="en-US" sz="4000" b="1" dirty="0">
                <a:solidFill>
                  <a:srgbClr val="124E73"/>
                </a:solidFill>
                <a:latin typeface="Museo Moderno Medium"/>
                <a:ea typeface="Museo Moderno Medium"/>
                <a:cs typeface="Museo Moderno Medium"/>
                <a:sym typeface="Museo Moderno Medium"/>
              </a:rPr>
              <a:t>Replaced null values by no coupon as dropping 309 rows from a dataset of 1200 rows is inefficient for the assumption that for the null values, they didn’t use a coupon</a:t>
            </a:r>
          </a:p>
          <a:p>
            <a:pPr marL="914400" indent="-914400" algn="l">
              <a:lnSpc>
                <a:spcPts val="5990"/>
              </a:lnSpc>
              <a:buFont typeface="+mj-lt"/>
              <a:buAutoNum type="arabicPeriod"/>
            </a:pPr>
            <a:r>
              <a:rPr lang="en-US" sz="4000" b="1" dirty="0">
                <a:solidFill>
                  <a:srgbClr val="124E73"/>
                </a:solidFill>
                <a:latin typeface="Museo Moderno Medium"/>
                <a:ea typeface="Museo Moderno Medium"/>
                <a:cs typeface="Museo Moderno Medium"/>
                <a:sym typeface="Museo Moderno Medium"/>
              </a:rPr>
              <a:t>Found no duplicated rows</a:t>
            </a:r>
          </a:p>
          <a:p>
            <a:pPr marL="914400" indent="-914400" algn="l">
              <a:lnSpc>
                <a:spcPts val="5990"/>
              </a:lnSpc>
              <a:buFont typeface="+mj-lt"/>
              <a:buAutoNum type="arabicPeriod"/>
            </a:pPr>
            <a:r>
              <a:rPr lang="en-US" sz="4000" b="1" dirty="0">
                <a:solidFill>
                  <a:srgbClr val="124E73"/>
                </a:solidFill>
                <a:latin typeface="Museo Moderno Medium"/>
                <a:ea typeface="Museo Moderno Medium"/>
                <a:cs typeface="Museo Moderno Medium"/>
                <a:sym typeface="Museo Moderno Medium"/>
              </a:rPr>
              <a:t>Fixed data types of data and determined categorical variables</a:t>
            </a:r>
          </a:p>
          <a:p>
            <a:pPr marL="914400" indent="-914400" algn="l">
              <a:lnSpc>
                <a:spcPts val="5990"/>
              </a:lnSpc>
              <a:buFont typeface="+mj-lt"/>
              <a:buAutoNum type="arabicPeriod"/>
            </a:pPr>
            <a:r>
              <a:rPr lang="en-US" sz="4000" b="1" dirty="0">
                <a:solidFill>
                  <a:srgbClr val="124E73"/>
                </a:solidFill>
                <a:latin typeface="Museo Moderno Medium"/>
                <a:ea typeface="Museo Moderno Medium"/>
                <a:cs typeface="Museo Moderno Medium"/>
                <a:sym typeface="Museo Moderno Medium"/>
              </a:rPr>
              <a:t>Now data is clean and structured for exploratory data analysis (EDA) with no data quality errors</a:t>
            </a:r>
          </a:p>
        </p:txBody>
      </p:sp>
    </p:spTree>
    <p:extLst>
      <p:ext uri="{BB962C8B-B14F-4D97-AF65-F5344CB8AC3E}">
        <p14:creationId xmlns:p14="http://schemas.microsoft.com/office/powerpoint/2010/main" val="276390867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a:extLst>
            <a:ext uri="{FF2B5EF4-FFF2-40B4-BE49-F238E27FC236}">
              <a16:creationId xmlns:a16="http://schemas.microsoft.com/office/drawing/2014/main" id="{CABD2426-5ADE-26CC-0063-EC5B326E3778}"/>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6BC5A269-EDA4-04E2-1537-4F353F8998E2}"/>
              </a:ext>
            </a:extLst>
          </p:cNvPr>
          <p:cNvGrpSpPr/>
          <p:nvPr/>
        </p:nvGrpSpPr>
        <p:grpSpPr>
          <a:xfrm>
            <a:off x="0" y="0"/>
            <a:ext cx="18288000" cy="10287000"/>
            <a:chOff x="0" y="0"/>
            <a:chExt cx="24384000" cy="13716000"/>
          </a:xfrm>
        </p:grpSpPr>
        <p:sp>
          <p:nvSpPr>
            <p:cNvPr id="3" name="Freeform 3">
              <a:extLst>
                <a:ext uri="{FF2B5EF4-FFF2-40B4-BE49-F238E27FC236}">
                  <a16:creationId xmlns:a16="http://schemas.microsoft.com/office/drawing/2014/main" id="{A7BDCCA4-DC84-A6FF-1FBC-8ED30D54CD90}"/>
                </a:ext>
              </a:extLst>
            </p:cNvPr>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close/>
                </a:path>
              </a:pathLst>
            </a:custGeom>
            <a:solidFill>
              <a:srgbClr val="50738C"/>
            </a:solidFill>
          </p:spPr>
          <p:txBody>
            <a:bodyPr/>
            <a:lstStyle/>
            <a:p>
              <a:endParaRPr lang="en-US"/>
            </a:p>
          </p:txBody>
        </p:sp>
      </p:grpSp>
      <p:grpSp>
        <p:nvGrpSpPr>
          <p:cNvPr id="4" name="Group 4">
            <a:extLst>
              <a:ext uri="{FF2B5EF4-FFF2-40B4-BE49-F238E27FC236}">
                <a16:creationId xmlns:a16="http://schemas.microsoft.com/office/drawing/2014/main" id="{CD0B0A39-5BC4-0178-1F84-B65D4336A9E4}"/>
              </a:ext>
            </a:extLst>
          </p:cNvPr>
          <p:cNvGrpSpPr/>
          <p:nvPr/>
        </p:nvGrpSpPr>
        <p:grpSpPr>
          <a:xfrm>
            <a:off x="29028" y="0"/>
            <a:ext cx="18288000" cy="10287000"/>
            <a:chOff x="0" y="0"/>
            <a:chExt cx="24384000" cy="13716000"/>
          </a:xfrm>
        </p:grpSpPr>
        <p:sp>
          <p:nvSpPr>
            <p:cNvPr id="5" name="Freeform 5">
              <a:extLst>
                <a:ext uri="{FF2B5EF4-FFF2-40B4-BE49-F238E27FC236}">
                  <a16:creationId xmlns:a16="http://schemas.microsoft.com/office/drawing/2014/main" id="{03CD988D-7E7F-9089-7E5E-29A3FACCC2F9}"/>
                </a:ext>
              </a:extLst>
            </p:cNvPr>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close/>
                </a:path>
              </a:pathLst>
            </a:custGeom>
            <a:solidFill>
              <a:srgbClr val="FFFCF5"/>
            </a:solidFill>
          </p:spPr>
          <p:txBody>
            <a:bodyPr/>
            <a:lstStyle/>
            <a:p>
              <a:endParaRPr lang="en-US"/>
            </a:p>
          </p:txBody>
        </p:sp>
      </p:grpSp>
      <p:sp>
        <p:nvSpPr>
          <p:cNvPr id="10" name="TextBox 10">
            <a:extLst>
              <a:ext uri="{FF2B5EF4-FFF2-40B4-BE49-F238E27FC236}">
                <a16:creationId xmlns:a16="http://schemas.microsoft.com/office/drawing/2014/main" id="{B4EFAF0B-7DF0-DAD2-E524-660A416EE583}"/>
              </a:ext>
            </a:extLst>
          </p:cNvPr>
          <p:cNvSpPr txBox="1"/>
          <p:nvPr/>
        </p:nvSpPr>
        <p:spPr>
          <a:xfrm>
            <a:off x="600353" y="115389"/>
            <a:ext cx="14465475" cy="10696583"/>
          </a:xfrm>
          <a:prstGeom prst="rect">
            <a:avLst/>
          </a:prstGeom>
        </p:spPr>
        <p:txBody>
          <a:bodyPr wrap="square" lIns="0" tIns="0" rIns="0" bIns="0" rtlCol="0" anchor="t">
            <a:spAutoFit/>
          </a:bodyPr>
          <a:lstStyle/>
          <a:p>
            <a:pPr algn="l">
              <a:lnSpc>
                <a:spcPts val="5990"/>
              </a:lnSpc>
            </a:pPr>
            <a:r>
              <a:rPr lang="en-US" sz="3600" b="1" dirty="0">
                <a:solidFill>
                  <a:srgbClr val="124E73"/>
                </a:solidFill>
                <a:latin typeface="Museo Moderno Medium"/>
                <a:ea typeface="Museo Moderno Medium"/>
                <a:cs typeface="Museo Moderno Medium"/>
                <a:sym typeface="Museo Moderno Medium"/>
              </a:rPr>
              <a:t>Analysis:</a:t>
            </a:r>
          </a:p>
          <a:p>
            <a:pPr algn="l">
              <a:lnSpc>
                <a:spcPts val="5990"/>
              </a:lnSpc>
            </a:pPr>
            <a:r>
              <a:rPr lang="en-US" sz="3600" b="1" dirty="0">
                <a:solidFill>
                  <a:srgbClr val="124E73"/>
                </a:solidFill>
                <a:latin typeface="Museo Moderno Medium"/>
                <a:ea typeface="Museo Moderno Medium"/>
                <a:cs typeface="Museo Moderno Medium"/>
                <a:sym typeface="Museo Moderno Medium"/>
              </a:rPr>
              <a:t>First Divided dataset into 2 type of columns</a:t>
            </a:r>
          </a:p>
          <a:p>
            <a:pPr marL="571500" indent="-571500" algn="l">
              <a:lnSpc>
                <a:spcPts val="5990"/>
              </a:lnSpc>
              <a:buFont typeface="Arial" panose="020B0604020202020204" pitchFamily="34" charset="0"/>
              <a:buChar char="•"/>
            </a:pPr>
            <a:r>
              <a:rPr lang="en-US" sz="3600" b="1" dirty="0">
                <a:solidFill>
                  <a:srgbClr val="124E73"/>
                </a:solidFill>
                <a:latin typeface="Museo Moderno Medium"/>
                <a:ea typeface="Museo Moderno Medium"/>
                <a:cs typeface="Museo Moderno Medium"/>
                <a:sym typeface="Museo Moderno Medium"/>
              </a:rPr>
              <a:t>Numerical columns:</a:t>
            </a:r>
          </a:p>
          <a:p>
            <a:pPr marL="742950" indent="-742950" algn="l">
              <a:lnSpc>
                <a:spcPts val="5990"/>
              </a:lnSpc>
              <a:buFont typeface="+mj-lt"/>
              <a:buAutoNum type="arabicPeriod"/>
            </a:pPr>
            <a:r>
              <a:rPr lang="en-US" sz="3600" b="1" dirty="0">
                <a:solidFill>
                  <a:srgbClr val="124E73"/>
                </a:solidFill>
                <a:latin typeface="Museo Moderno Medium"/>
                <a:ea typeface="Museo Moderno Medium"/>
                <a:cs typeface="Museo Moderno Medium"/>
                <a:sym typeface="Museo Moderno Medium"/>
              </a:rPr>
              <a:t>Quantity</a:t>
            </a:r>
          </a:p>
          <a:p>
            <a:pPr marL="742950" indent="-742950" algn="l">
              <a:lnSpc>
                <a:spcPts val="5990"/>
              </a:lnSpc>
              <a:buFont typeface="+mj-lt"/>
              <a:buAutoNum type="arabicPeriod"/>
            </a:pPr>
            <a:r>
              <a:rPr lang="en-US" sz="3600" b="1" dirty="0">
                <a:solidFill>
                  <a:srgbClr val="124E73"/>
                </a:solidFill>
                <a:latin typeface="Museo Moderno Medium"/>
                <a:ea typeface="Museo Moderno Medium"/>
                <a:cs typeface="Museo Moderno Medium"/>
                <a:sym typeface="Museo Moderno Medium"/>
              </a:rPr>
              <a:t>Unit price</a:t>
            </a:r>
          </a:p>
          <a:p>
            <a:pPr marL="742950" indent="-742950" algn="l">
              <a:lnSpc>
                <a:spcPts val="5990"/>
              </a:lnSpc>
              <a:buFont typeface="+mj-lt"/>
              <a:buAutoNum type="arabicPeriod"/>
            </a:pPr>
            <a:r>
              <a:rPr lang="en-US" sz="3600" b="1" dirty="0">
                <a:solidFill>
                  <a:srgbClr val="124E73"/>
                </a:solidFill>
                <a:latin typeface="Museo Moderno Medium"/>
                <a:ea typeface="Museo Moderno Medium"/>
                <a:cs typeface="Museo Moderno Medium"/>
                <a:sym typeface="Museo Moderno Medium"/>
              </a:rPr>
              <a:t>Total price</a:t>
            </a:r>
          </a:p>
          <a:p>
            <a:pPr marL="742950" indent="-742950" algn="l">
              <a:lnSpc>
                <a:spcPts val="5990"/>
              </a:lnSpc>
              <a:buFont typeface="+mj-lt"/>
              <a:buAutoNum type="arabicPeriod"/>
            </a:pPr>
            <a:r>
              <a:rPr lang="en-US" sz="3600" b="1" dirty="0">
                <a:solidFill>
                  <a:srgbClr val="124E73"/>
                </a:solidFill>
                <a:latin typeface="Museo Moderno Medium"/>
                <a:ea typeface="Museo Moderno Medium"/>
                <a:cs typeface="Museo Moderno Medium"/>
                <a:sym typeface="Museo Moderno Medium"/>
              </a:rPr>
              <a:t>Items in cart</a:t>
            </a:r>
          </a:p>
          <a:p>
            <a:pPr marL="571500" indent="-571500" algn="l">
              <a:lnSpc>
                <a:spcPts val="5990"/>
              </a:lnSpc>
              <a:buFont typeface="Arial" panose="020B0604020202020204" pitchFamily="34" charset="0"/>
              <a:buChar char="•"/>
            </a:pPr>
            <a:r>
              <a:rPr lang="en-US" sz="3600" b="1" dirty="0">
                <a:solidFill>
                  <a:srgbClr val="124E73"/>
                </a:solidFill>
                <a:latin typeface="Museo Moderno Medium"/>
                <a:ea typeface="Museo Moderno Medium"/>
                <a:cs typeface="Museo Moderno Medium"/>
                <a:sym typeface="Museo Moderno Medium"/>
              </a:rPr>
              <a:t>Categorical columns:</a:t>
            </a:r>
          </a:p>
          <a:p>
            <a:pPr marL="742950" indent="-742950" algn="l">
              <a:lnSpc>
                <a:spcPts val="5990"/>
              </a:lnSpc>
              <a:buFont typeface="+mj-lt"/>
              <a:buAutoNum type="arabicPeriod"/>
            </a:pPr>
            <a:r>
              <a:rPr lang="en-US" sz="3600" b="1" dirty="0">
                <a:solidFill>
                  <a:srgbClr val="124E73"/>
                </a:solidFill>
                <a:latin typeface="Museo Moderno Medium"/>
                <a:ea typeface="Museo Moderno Medium"/>
                <a:cs typeface="Museo Moderno Medium"/>
                <a:sym typeface="Museo Moderno Medium"/>
              </a:rPr>
              <a:t>Product</a:t>
            </a:r>
          </a:p>
          <a:p>
            <a:pPr marL="742950" indent="-742950" algn="l">
              <a:lnSpc>
                <a:spcPts val="5990"/>
              </a:lnSpc>
              <a:buFont typeface="+mj-lt"/>
              <a:buAutoNum type="arabicPeriod"/>
            </a:pPr>
            <a:r>
              <a:rPr lang="en-US" sz="3600" b="1" dirty="0">
                <a:solidFill>
                  <a:srgbClr val="124E73"/>
                </a:solidFill>
                <a:latin typeface="Museo Moderno Medium"/>
                <a:ea typeface="Museo Moderno Medium"/>
                <a:cs typeface="Museo Moderno Medium"/>
                <a:sym typeface="Museo Moderno Medium"/>
              </a:rPr>
              <a:t>Coupon code</a:t>
            </a:r>
          </a:p>
          <a:p>
            <a:pPr marL="742950" indent="-742950" algn="l">
              <a:lnSpc>
                <a:spcPts val="5990"/>
              </a:lnSpc>
              <a:buFont typeface="+mj-lt"/>
              <a:buAutoNum type="arabicPeriod"/>
            </a:pPr>
            <a:r>
              <a:rPr lang="en-US" sz="3600" b="1" dirty="0">
                <a:solidFill>
                  <a:srgbClr val="124E73"/>
                </a:solidFill>
                <a:latin typeface="Museo Moderno Medium"/>
                <a:ea typeface="Museo Moderno Medium"/>
                <a:cs typeface="Museo Moderno Medium"/>
                <a:sym typeface="Museo Moderno Medium"/>
              </a:rPr>
              <a:t>Payment method</a:t>
            </a:r>
          </a:p>
          <a:p>
            <a:pPr marL="742950" indent="-742950" algn="l">
              <a:lnSpc>
                <a:spcPts val="5990"/>
              </a:lnSpc>
              <a:buFont typeface="+mj-lt"/>
              <a:buAutoNum type="arabicPeriod"/>
            </a:pPr>
            <a:r>
              <a:rPr lang="en-US" sz="3600" b="1" dirty="0">
                <a:solidFill>
                  <a:srgbClr val="124E73"/>
                </a:solidFill>
                <a:latin typeface="Museo Moderno Medium"/>
                <a:ea typeface="Museo Moderno Medium"/>
                <a:cs typeface="Museo Moderno Medium"/>
                <a:sym typeface="Museo Moderno Medium"/>
              </a:rPr>
              <a:t>Order status</a:t>
            </a:r>
          </a:p>
          <a:p>
            <a:pPr marL="742950" indent="-742950" algn="l">
              <a:lnSpc>
                <a:spcPts val="5990"/>
              </a:lnSpc>
              <a:buFont typeface="+mj-lt"/>
              <a:buAutoNum type="arabicPeriod"/>
            </a:pPr>
            <a:r>
              <a:rPr lang="en-US" sz="3600" b="1" dirty="0">
                <a:solidFill>
                  <a:srgbClr val="124E73"/>
                </a:solidFill>
                <a:latin typeface="Museo Moderno Medium"/>
                <a:ea typeface="Museo Moderno Medium"/>
                <a:cs typeface="Museo Moderno Medium"/>
                <a:sym typeface="Museo Moderno Medium"/>
              </a:rPr>
              <a:t>Referral source</a:t>
            </a:r>
          </a:p>
          <a:p>
            <a:pPr marL="742950" indent="-742950" algn="l">
              <a:lnSpc>
                <a:spcPts val="5990"/>
              </a:lnSpc>
              <a:buFont typeface="+mj-lt"/>
              <a:buAutoNum type="arabicPeriod"/>
            </a:pPr>
            <a:endParaRPr lang="en-US" sz="4000" b="1" dirty="0">
              <a:solidFill>
                <a:srgbClr val="124E73"/>
              </a:solidFill>
              <a:latin typeface="Museo Moderno Medium"/>
              <a:ea typeface="Museo Moderno Medium"/>
              <a:cs typeface="Museo Moderno Medium"/>
              <a:sym typeface="Museo Moderno Medium"/>
            </a:endParaRPr>
          </a:p>
        </p:txBody>
      </p:sp>
    </p:spTree>
    <p:extLst>
      <p:ext uri="{BB962C8B-B14F-4D97-AF65-F5344CB8AC3E}">
        <p14:creationId xmlns:p14="http://schemas.microsoft.com/office/powerpoint/2010/main" val="329225546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a:extLst>
            <a:ext uri="{FF2B5EF4-FFF2-40B4-BE49-F238E27FC236}">
              <a16:creationId xmlns:a16="http://schemas.microsoft.com/office/drawing/2014/main" id="{89D545BD-9073-0456-8852-FA2BC1BD79E0}"/>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758F70AF-9A6A-9017-C4B0-1F795D2D5ACD}"/>
              </a:ext>
            </a:extLst>
          </p:cNvPr>
          <p:cNvGrpSpPr/>
          <p:nvPr/>
        </p:nvGrpSpPr>
        <p:grpSpPr>
          <a:xfrm>
            <a:off x="0" y="0"/>
            <a:ext cx="18288000" cy="10287000"/>
            <a:chOff x="0" y="0"/>
            <a:chExt cx="24384000" cy="13716000"/>
          </a:xfrm>
        </p:grpSpPr>
        <p:sp>
          <p:nvSpPr>
            <p:cNvPr id="3" name="Freeform 3">
              <a:extLst>
                <a:ext uri="{FF2B5EF4-FFF2-40B4-BE49-F238E27FC236}">
                  <a16:creationId xmlns:a16="http://schemas.microsoft.com/office/drawing/2014/main" id="{3E5BB3C7-6B5A-3FC1-75AF-DF8C3AE63051}"/>
                </a:ext>
              </a:extLst>
            </p:cNvPr>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close/>
                </a:path>
              </a:pathLst>
            </a:custGeom>
            <a:solidFill>
              <a:srgbClr val="50738C"/>
            </a:solidFill>
          </p:spPr>
          <p:txBody>
            <a:bodyPr/>
            <a:lstStyle/>
            <a:p>
              <a:endParaRPr lang="en-US"/>
            </a:p>
          </p:txBody>
        </p:sp>
      </p:grpSp>
      <p:grpSp>
        <p:nvGrpSpPr>
          <p:cNvPr id="4" name="Group 4">
            <a:extLst>
              <a:ext uri="{FF2B5EF4-FFF2-40B4-BE49-F238E27FC236}">
                <a16:creationId xmlns:a16="http://schemas.microsoft.com/office/drawing/2014/main" id="{9F071252-707C-0DEF-405E-22A1D0FA53D8}"/>
              </a:ext>
            </a:extLst>
          </p:cNvPr>
          <p:cNvGrpSpPr/>
          <p:nvPr/>
        </p:nvGrpSpPr>
        <p:grpSpPr>
          <a:xfrm>
            <a:off x="29028" y="0"/>
            <a:ext cx="18288000" cy="10287000"/>
            <a:chOff x="0" y="0"/>
            <a:chExt cx="24384000" cy="13716000"/>
          </a:xfrm>
        </p:grpSpPr>
        <p:sp>
          <p:nvSpPr>
            <p:cNvPr id="5" name="Freeform 5">
              <a:extLst>
                <a:ext uri="{FF2B5EF4-FFF2-40B4-BE49-F238E27FC236}">
                  <a16:creationId xmlns:a16="http://schemas.microsoft.com/office/drawing/2014/main" id="{71CBE8A9-252D-3A56-02B8-C633B5E7C3CB}"/>
                </a:ext>
              </a:extLst>
            </p:cNvPr>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close/>
                </a:path>
              </a:pathLst>
            </a:custGeom>
            <a:solidFill>
              <a:srgbClr val="FFFCF5"/>
            </a:solidFill>
          </p:spPr>
          <p:txBody>
            <a:bodyPr/>
            <a:lstStyle/>
            <a:p>
              <a:endParaRPr lang="en-US" dirty="0"/>
            </a:p>
          </p:txBody>
        </p:sp>
      </p:grpSp>
      <p:sp>
        <p:nvSpPr>
          <p:cNvPr id="10" name="TextBox 10">
            <a:extLst>
              <a:ext uri="{FF2B5EF4-FFF2-40B4-BE49-F238E27FC236}">
                <a16:creationId xmlns:a16="http://schemas.microsoft.com/office/drawing/2014/main" id="{BB36CF3A-04A9-1103-9AA1-1C92C3B11A5F}"/>
              </a:ext>
            </a:extLst>
          </p:cNvPr>
          <p:cNvSpPr txBox="1"/>
          <p:nvPr/>
        </p:nvSpPr>
        <p:spPr>
          <a:xfrm>
            <a:off x="275771" y="115389"/>
            <a:ext cx="14790057" cy="1451616"/>
          </a:xfrm>
          <a:prstGeom prst="rect">
            <a:avLst/>
          </a:prstGeom>
        </p:spPr>
        <p:txBody>
          <a:bodyPr wrap="square" lIns="0" tIns="0" rIns="0" bIns="0" rtlCol="0" anchor="t">
            <a:spAutoFit/>
          </a:bodyPr>
          <a:lstStyle/>
          <a:p>
            <a:pPr algn="l">
              <a:lnSpc>
                <a:spcPts val="5990"/>
              </a:lnSpc>
            </a:pPr>
            <a:r>
              <a:rPr lang="en-US" sz="3600" b="1" dirty="0">
                <a:solidFill>
                  <a:srgbClr val="124E73"/>
                </a:solidFill>
                <a:latin typeface="Museo Moderno Medium"/>
                <a:ea typeface="Museo Moderno Medium"/>
                <a:cs typeface="Museo Moderno Medium"/>
                <a:sym typeface="Museo Moderno Medium"/>
              </a:rPr>
              <a:t>Numerical measures :</a:t>
            </a:r>
          </a:p>
          <a:p>
            <a:pPr algn="l">
              <a:lnSpc>
                <a:spcPts val="5990"/>
              </a:lnSpc>
            </a:pPr>
            <a:endParaRPr lang="en-US" sz="3600" b="1" dirty="0">
              <a:solidFill>
                <a:srgbClr val="124E73"/>
              </a:solidFill>
              <a:latin typeface="Museo Moderno Medium"/>
              <a:ea typeface="Museo Moderno Medium"/>
              <a:cs typeface="Museo Moderno Medium"/>
              <a:sym typeface="Museo Moderno Medium"/>
            </a:endParaRPr>
          </a:p>
        </p:txBody>
      </p:sp>
      <p:sp>
        <p:nvSpPr>
          <p:cNvPr id="12" name="TextBox 10">
            <a:extLst>
              <a:ext uri="{FF2B5EF4-FFF2-40B4-BE49-F238E27FC236}">
                <a16:creationId xmlns:a16="http://schemas.microsoft.com/office/drawing/2014/main" id="{D3805919-A7A3-38CC-9430-8A01E54C2706}"/>
              </a:ext>
            </a:extLst>
          </p:cNvPr>
          <p:cNvSpPr txBox="1"/>
          <p:nvPr/>
        </p:nvSpPr>
        <p:spPr>
          <a:xfrm>
            <a:off x="275771" y="6545726"/>
            <a:ext cx="14790057" cy="3759940"/>
          </a:xfrm>
          <a:prstGeom prst="rect">
            <a:avLst/>
          </a:prstGeom>
        </p:spPr>
        <p:txBody>
          <a:bodyPr wrap="square" lIns="0" tIns="0" rIns="0" bIns="0" rtlCol="0" anchor="t">
            <a:spAutoFit/>
          </a:bodyPr>
          <a:lstStyle/>
          <a:p>
            <a:pPr algn="l">
              <a:lnSpc>
                <a:spcPts val="5990"/>
              </a:lnSpc>
            </a:pPr>
            <a:r>
              <a:rPr lang="en-US" sz="3600" b="1" dirty="0">
                <a:solidFill>
                  <a:srgbClr val="124E73"/>
                </a:solidFill>
                <a:latin typeface="Museo Moderno Medium"/>
                <a:ea typeface="Museo Moderno Medium"/>
                <a:cs typeface="Museo Moderno Medium"/>
                <a:sym typeface="Museo Moderno Medium"/>
              </a:rPr>
              <a:t>Comments :</a:t>
            </a:r>
          </a:p>
          <a:p>
            <a:pPr algn="l">
              <a:lnSpc>
                <a:spcPts val="5990"/>
              </a:lnSpc>
            </a:pPr>
            <a:r>
              <a:rPr lang="en-US" sz="3600" b="1" dirty="0">
                <a:solidFill>
                  <a:srgbClr val="124E73"/>
                </a:solidFill>
                <a:latin typeface="Museo Moderno Medium"/>
                <a:ea typeface="Museo Moderno Medium"/>
                <a:cs typeface="Museo Moderno Medium"/>
                <a:sym typeface="Museo Moderno Medium"/>
              </a:rPr>
              <a:t>From the table we can conclude that unit price is negatively skewed and total price is positively skewed  while both are less peaked than normal so there is more variation than normal while items in cart is symmetric</a:t>
            </a:r>
          </a:p>
          <a:p>
            <a:pPr marL="742950" indent="-742950" algn="l">
              <a:lnSpc>
                <a:spcPts val="5990"/>
              </a:lnSpc>
              <a:buFont typeface="+mj-lt"/>
              <a:buAutoNum type="arabicPeriod"/>
            </a:pPr>
            <a:endParaRPr lang="en-US" sz="3600" b="1" dirty="0">
              <a:solidFill>
                <a:srgbClr val="124E73"/>
              </a:solidFill>
              <a:latin typeface="Museo Moderno Medium"/>
              <a:ea typeface="Museo Moderno Medium"/>
              <a:cs typeface="Museo Moderno Medium"/>
              <a:sym typeface="Museo Moderno Medium"/>
            </a:endParaRPr>
          </a:p>
        </p:txBody>
      </p:sp>
      <p:graphicFrame>
        <p:nvGraphicFramePr>
          <p:cNvPr id="6" name="Table 5">
            <a:extLst>
              <a:ext uri="{FF2B5EF4-FFF2-40B4-BE49-F238E27FC236}">
                <a16:creationId xmlns:a16="http://schemas.microsoft.com/office/drawing/2014/main" id="{263BA173-B21D-CA48-5CD4-9AF0CE01BA14}"/>
              </a:ext>
            </a:extLst>
          </p:cNvPr>
          <p:cNvGraphicFramePr>
            <a:graphicFrameLocks noGrp="1"/>
          </p:cNvGraphicFramePr>
          <p:nvPr>
            <p:extLst>
              <p:ext uri="{D42A27DB-BD31-4B8C-83A1-F6EECF244321}">
                <p14:modId xmlns:p14="http://schemas.microsoft.com/office/powerpoint/2010/main" val="2949457574"/>
              </p:ext>
            </p:extLst>
          </p:nvPr>
        </p:nvGraphicFramePr>
        <p:xfrm>
          <a:off x="275770" y="888667"/>
          <a:ext cx="17456420" cy="5494200"/>
        </p:xfrm>
        <a:graphic>
          <a:graphicData uri="http://schemas.openxmlformats.org/drawingml/2006/table">
            <a:tbl>
              <a:tblPr firstRow="1" bandRow="1">
                <a:tableStyleId>{5C22544A-7EE6-4342-B048-85BDC9FD1C3A}</a:tableStyleId>
              </a:tblPr>
              <a:tblGrid>
                <a:gridCol w="3491284">
                  <a:extLst>
                    <a:ext uri="{9D8B030D-6E8A-4147-A177-3AD203B41FA5}">
                      <a16:colId xmlns:a16="http://schemas.microsoft.com/office/drawing/2014/main" val="2328564509"/>
                    </a:ext>
                  </a:extLst>
                </a:gridCol>
                <a:gridCol w="3491284">
                  <a:extLst>
                    <a:ext uri="{9D8B030D-6E8A-4147-A177-3AD203B41FA5}">
                      <a16:colId xmlns:a16="http://schemas.microsoft.com/office/drawing/2014/main" val="2058070290"/>
                    </a:ext>
                  </a:extLst>
                </a:gridCol>
                <a:gridCol w="3491284">
                  <a:extLst>
                    <a:ext uri="{9D8B030D-6E8A-4147-A177-3AD203B41FA5}">
                      <a16:colId xmlns:a16="http://schemas.microsoft.com/office/drawing/2014/main" val="1725923865"/>
                    </a:ext>
                  </a:extLst>
                </a:gridCol>
                <a:gridCol w="3491284">
                  <a:extLst>
                    <a:ext uri="{9D8B030D-6E8A-4147-A177-3AD203B41FA5}">
                      <a16:colId xmlns:a16="http://schemas.microsoft.com/office/drawing/2014/main" val="3637689739"/>
                    </a:ext>
                  </a:extLst>
                </a:gridCol>
                <a:gridCol w="3491284">
                  <a:extLst>
                    <a:ext uri="{9D8B030D-6E8A-4147-A177-3AD203B41FA5}">
                      <a16:colId xmlns:a16="http://schemas.microsoft.com/office/drawing/2014/main" val="3557701396"/>
                    </a:ext>
                  </a:extLst>
                </a:gridCol>
              </a:tblGrid>
              <a:tr h="457850">
                <a:tc>
                  <a:txBody>
                    <a:bodyPr/>
                    <a:lstStyle/>
                    <a:p>
                      <a:r>
                        <a:rPr lang="en-US" dirty="0"/>
                        <a:t>Measure (Rounded to nearest 2)</a:t>
                      </a:r>
                    </a:p>
                  </a:txBody>
                  <a:tcPr>
                    <a:solidFill>
                      <a:schemeClr val="accent5">
                        <a:lumMod val="75000"/>
                      </a:schemeClr>
                    </a:solidFill>
                  </a:tcPr>
                </a:tc>
                <a:tc>
                  <a:txBody>
                    <a:bodyPr/>
                    <a:lstStyle/>
                    <a:p>
                      <a:r>
                        <a:rPr lang="en-US" dirty="0"/>
                        <a:t>Quantity</a:t>
                      </a:r>
                    </a:p>
                  </a:txBody>
                  <a:tcPr>
                    <a:solidFill>
                      <a:schemeClr val="accent5">
                        <a:lumMod val="75000"/>
                      </a:schemeClr>
                    </a:solidFill>
                  </a:tcPr>
                </a:tc>
                <a:tc>
                  <a:txBody>
                    <a:bodyPr/>
                    <a:lstStyle/>
                    <a:p>
                      <a:r>
                        <a:rPr lang="en-US" dirty="0"/>
                        <a:t>Unit price</a:t>
                      </a:r>
                    </a:p>
                  </a:txBody>
                  <a:tcPr>
                    <a:solidFill>
                      <a:schemeClr val="accent5">
                        <a:lumMod val="75000"/>
                      </a:schemeClr>
                    </a:solidFill>
                  </a:tcPr>
                </a:tc>
                <a:tc>
                  <a:txBody>
                    <a:bodyPr/>
                    <a:lstStyle/>
                    <a:p>
                      <a:r>
                        <a:rPr lang="en-US" dirty="0"/>
                        <a:t>Items in cart</a:t>
                      </a:r>
                    </a:p>
                  </a:txBody>
                  <a:tcPr>
                    <a:solidFill>
                      <a:schemeClr val="accent5">
                        <a:lumMod val="75000"/>
                      </a:schemeClr>
                    </a:solidFill>
                  </a:tcPr>
                </a:tc>
                <a:tc>
                  <a:txBody>
                    <a:bodyPr/>
                    <a:lstStyle/>
                    <a:p>
                      <a:r>
                        <a:rPr lang="en-US" dirty="0"/>
                        <a:t>Total price</a:t>
                      </a:r>
                    </a:p>
                  </a:txBody>
                  <a:tcPr>
                    <a:solidFill>
                      <a:schemeClr val="accent5">
                        <a:lumMod val="75000"/>
                      </a:schemeClr>
                    </a:solidFill>
                  </a:tcPr>
                </a:tc>
                <a:extLst>
                  <a:ext uri="{0D108BD9-81ED-4DB2-BD59-A6C34878D82A}">
                    <a16:rowId xmlns:a16="http://schemas.microsoft.com/office/drawing/2014/main" val="3560191448"/>
                  </a:ext>
                </a:extLst>
              </a:tr>
              <a:tr h="457850">
                <a:tc>
                  <a:txBody>
                    <a:bodyPr/>
                    <a:lstStyle/>
                    <a:p>
                      <a:r>
                        <a:rPr lang="en-US" dirty="0"/>
                        <a:t>Mean</a:t>
                      </a:r>
                    </a:p>
                  </a:txBody>
                  <a:tcPr>
                    <a:solidFill>
                      <a:schemeClr val="accent5">
                        <a:lumMod val="75000"/>
                      </a:schemeClr>
                    </a:solidFill>
                  </a:tcPr>
                </a:tc>
                <a:tc>
                  <a:txBody>
                    <a:bodyPr/>
                    <a:lstStyle/>
                    <a:p>
                      <a:r>
                        <a:rPr lang="en-US" dirty="0"/>
                        <a:t>2.95</a:t>
                      </a:r>
                    </a:p>
                  </a:txBody>
                  <a:tcPr>
                    <a:solidFill>
                      <a:schemeClr val="accent5">
                        <a:lumMod val="75000"/>
                      </a:schemeClr>
                    </a:solidFill>
                  </a:tcPr>
                </a:tc>
                <a:tc>
                  <a:txBody>
                    <a:bodyPr/>
                    <a:lstStyle/>
                    <a:p>
                      <a:r>
                        <a:rPr lang="en-US" dirty="0"/>
                        <a:t>356.41</a:t>
                      </a:r>
                    </a:p>
                  </a:txBody>
                  <a:tcPr>
                    <a:solidFill>
                      <a:schemeClr val="accent5">
                        <a:lumMod val="75000"/>
                      </a:schemeClr>
                    </a:solidFill>
                  </a:tcPr>
                </a:tc>
                <a:tc>
                  <a:txBody>
                    <a:bodyPr/>
                    <a:lstStyle/>
                    <a:p>
                      <a:r>
                        <a:rPr lang="en-US" dirty="0"/>
                        <a:t>5.48</a:t>
                      </a:r>
                    </a:p>
                  </a:txBody>
                  <a:tcPr>
                    <a:solidFill>
                      <a:schemeClr val="accent5">
                        <a:lumMod val="75000"/>
                      </a:schemeClr>
                    </a:solidFill>
                  </a:tcPr>
                </a:tc>
                <a:tc>
                  <a:txBody>
                    <a:bodyPr/>
                    <a:lstStyle/>
                    <a:p>
                      <a:r>
                        <a:rPr lang="en-US" dirty="0"/>
                        <a:t>1053.97</a:t>
                      </a:r>
                    </a:p>
                  </a:txBody>
                  <a:tcPr>
                    <a:solidFill>
                      <a:schemeClr val="accent5">
                        <a:lumMod val="75000"/>
                      </a:schemeClr>
                    </a:solidFill>
                  </a:tcPr>
                </a:tc>
                <a:extLst>
                  <a:ext uri="{0D108BD9-81ED-4DB2-BD59-A6C34878D82A}">
                    <a16:rowId xmlns:a16="http://schemas.microsoft.com/office/drawing/2014/main" val="2056806226"/>
                  </a:ext>
                </a:extLst>
              </a:tr>
              <a:tr h="457850">
                <a:tc>
                  <a:txBody>
                    <a:bodyPr/>
                    <a:lstStyle/>
                    <a:p>
                      <a:r>
                        <a:rPr lang="en-US" dirty="0"/>
                        <a:t>Mode</a:t>
                      </a:r>
                    </a:p>
                  </a:txBody>
                  <a:tcPr>
                    <a:solidFill>
                      <a:schemeClr val="accent5">
                        <a:lumMod val="75000"/>
                      </a:schemeClr>
                    </a:solidFill>
                  </a:tcPr>
                </a:tc>
                <a:tc>
                  <a:txBody>
                    <a:bodyPr/>
                    <a:lstStyle/>
                    <a:p>
                      <a:r>
                        <a:rPr lang="en-US" dirty="0"/>
                        <a:t>1</a:t>
                      </a:r>
                    </a:p>
                  </a:txBody>
                  <a:tcPr>
                    <a:solidFill>
                      <a:schemeClr val="accent5">
                        <a:lumMod val="75000"/>
                      </a:schemeClr>
                    </a:solidFill>
                  </a:tcPr>
                </a:tc>
                <a:tc>
                  <a:txBody>
                    <a:bodyPr/>
                    <a:lstStyle/>
                    <a:p>
                      <a:r>
                        <a:rPr lang="en-US" dirty="0"/>
                        <a:t>Too many modes</a:t>
                      </a:r>
                    </a:p>
                  </a:txBody>
                  <a:tcPr>
                    <a:solidFill>
                      <a:schemeClr val="accent5">
                        <a:lumMod val="75000"/>
                      </a:schemeClr>
                    </a:solidFill>
                  </a:tcPr>
                </a:tc>
                <a:tc>
                  <a:txBody>
                    <a:bodyPr/>
                    <a:lstStyle/>
                    <a:p>
                      <a:r>
                        <a:rPr lang="en-US" dirty="0"/>
                        <a:t>5</a:t>
                      </a:r>
                    </a:p>
                  </a:txBody>
                  <a:tcPr>
                    <a:solidFill>
                      <a:schemeClr val="accent5">
                        <a:lumMod val="75000"/>
                      </a:schemeClr>
                    </a:solidFill>
                  </a:tcPr>
                </a:tc>
                <a:tc>
                  <a:txBody>
                    <a:bodyPr/>
                    <a:lstStyle/>
                    <a:p>
                      <a:r>
                        <a:rPr lang="en-US" dirty="0"/>
                        <a:t>Too many modes</a:t>
                      </a:r>
                    </a:p>
                  </a:txBody>
                  <a:tcPr>
                    <a:solidFill>
                      <a:schemeClr val="accent5">
                        <a:lumMod val="75000"/>
                      </a:schemeClr>
                    </a:solidFill>
                  </a:tcPr>
                </a:tc>
                <a:extLst>
                  <a:ext uri="{0D108BD9-81ED-4DB2-BD59-A6C34878D82A}">
                    <a16:rowId xmlns:a16="http://schemas.microsoft.com/office/drawing/2014/main" val="2426777738"/>
                  </a:ext>
                </a:extLst>
              </a:tr>
              <a:tr h="457850">
                <a:tc>
                  <a:txBody>
                    <a:bodyPr/>
                    <a:lstStyle/>
                    <a:p>
                      <a:r>
                        <a:rPr lang="en-US" dirty="0"/>
                        <a:t>Median</a:t>
                      </a:r>
                    </a:p>
                  </a:txBody>
                  <a:tcPr>
                    <a:solidFill>
                      <a:schemeClr val="accent5">
                        <a:lumMod val="75000"/>
                      </a:schemeClr>
                    </a:solidFill>
                  </a:tcPr>
                </a:tc>
                <a:tc>
                  <a:txBody>
                    <a:bodyPr/>
                    <a:lstStyle/>
                    <a:p>
                      <a:r>
                        <a:rPr lang="en-US" dirty="0"/>
                        <a:t>3</a:t>
                      </a:r>
                    </a:p>
                  </a:txBody>
                  <a:tcPr>
                    <a:solidFill>
                      <a:schemeClr val="accent5">
                        <a:lumMod val="75000"/>
                      </a:schemeClr>
                    </a:solidFill>
                  </a:tcPr>
                </a:tc>
                <a:tc>
                  <a:txBody>
                    <a:bodyPr/>
                    <a:lstStyle/>
                    <a:p>
                      <a:r>
                        <a:rPr lang="en-US" dirty="0"/>
                        <a:t>364.21</a:t>
                      </a:r>
                    </a:p>
                  </a:txBody>
                  <a:tcPr>
                    <a:solidFill>
                      <a:schemeClr val="accent5">
                        <a:lumMod val="75000"/>
                      </a:schemeClr>
                    </a:solidFill>
                  </a:tcPr>
                </a:tc>
                <a:tc>
                  <a:txBody>
                    <a:bodyPr/>
                    <a:lstStyle/>
                    <a:p>
                      <a:r>
                        <a:rPr lang="en-US" dirty="0"/>
                        <a:t>5</a:t>
                      </a:r>
                    </a:p>
                  </a:txBody>
                  <a:tcPr>
                    <a:solidFill>
                      <a:schemeClr val="accent5">
                        <a:lumMod val="75000"/>
                      </a:schemeClr>
                    </a:solidFill>
                  </a:tcPr>
                </a:tc>
                <a:tc>
                  <a:txBody>
                    <a:bodyPr/>
                    <a:lstStyle/>
                    <a:p>
                      <a:r>
                        <a:rPr lang="en-US" dirty="0"/>
                        <a:t>823.62</a:t>
                      </a:r>
                    </a:p>
                  </a:txBody>
                  <a:tcPr>
                    <a:solidFill>
                      <a:schemeClr val="accent5">
                        <a:lumMod val="75000"/>
                      </a:schemeClr>
                    </a:solidFill>
                  </a:tcPr>
                </a:tc>
                <a:extLst>
                  <a:ext uri="{0D108BD9-81ED-4DB2-BD59-A6C34878D82A}">
                    <a16:rowId xmlns:a16="http://schemas.microsoft.com/office/drawing/2014/main" val="2749776540"/>
                  </a:ext>
                </a:extLst>
              </a:tr>
              <a:tr h="457850">
                <a:tc>
                  <a:txBody>
                    <a:bodyPr/>
                    <a:lstStyle/>
                    <a:p>
                      <a:r>
                        <a:rPr lang="en-US" dirty="0"/>
                        <a:t>Q1</a:t>
                      </a:r>
                    </a:p>
                  </a:txBody>
                  <a:tcPr>
                    <a:solidFill>
                      <a:schemeClr val="accent5">
                        <a:lumMod val="75000"/>
                      </a:schemeClr>
                    </a:solidFill>
                  </a:tcPr>
                </a:tc>
                <a:tc>
                  <a:txBody>
                    <a:bodyPr/>
                    <a:lstStyle/>
                    <a:p>
                      <a:r>
                        <a:rPr lang="en-US" dirty="0"/>
                        <a:t>2</a:t>
                      </a:r>
                    </a:p>
                  </a:txBody>
                  <a:tcPr>
                    <a:solidFill>
                      <a:schemeClr val="accent5">
                        <a:lumMod val="75000"/>
                      </a:schemeClr>
                    </a:solidFill>
                  </a:tcPr>
                </a:tc>
                <a:tc>
                  <a:txBody>
                    <a:bodyPr/>
                    <a:lstStyle/>
                    <a:p>
                      <a:r>
                        <a:rPr lang="en-US" dirty="0"/>
                        <a:t>186.06</a:t>
                      </a:r>
                    </a:p>
                  </a:txBody>
                  <a:tcPr>
                    <a:solidFill>
                      <a:schemeClr val="accent5">
                        <a:lumMod val="75000"/>
                      </a:schemeClr>
                    </a:solidFill>
                  </a:tcPr>
                </a:tc>
                <a:tc>
                  <a:txBody>
                    <a:bodyPr/>
                    <a:lstStyle/>
                    <a:p>
                      <a:r>
                        <a:rPr lang="en-US" dirty="0"/>
                        <a:t>4</a:t>
                      </a:r>
                    </a:p>
                  </a:txBody>
                  <a:tcPr>
                    <a:solidFill>
                      <a:schemeClr val="accent5">
                        <a:lumMod val="75000"/>
                      </a:schemeClr>
                    </a:solidFill>
                  </a:tcPr>
                </a:tc>
                <a:tc>
                  <a:txBody>
                    <a:bodyPr/>
                    <a:lstStyle/>
                    <a:p>
                      <a:r>
                        <a:rPr lang="en-US" dirty="0"/>
                        <a:t>410.52</a:t>
                      </a:r>
                    </a:p>
                  </a:txBody>
                  <a:tcPr>
                    <a:solidFill>
                      <a:schemeClr val="accent5">
                        <a:lumMod val="75000"/>
                      </a:schemeClr>
                    </a:solidFill>
                  </a:tcPr>
                </a:tc>
                <a:extLst>
                  <a:ext uri="{0D108BD9-81ED-4DB2-BD59-A6C34878D82A}">
                    <a16:rowId xmlns:a16="http://schemas.microsoft.com/office/drawing/2014/main" val="1195733235"/>
                  </a:ext>
                </a:extLst>
              </a:tr>
              <a:tr h="457850">
                <a:tc>
                  <a:txBody>
                    <a:bodyPr/>
                    <a:lstStyle/>
                    <a:p>
                      <a:r>
                        <a:rPr lang="en-US" dirty="0"/>
                        <a:t>Q2</a:t>
                      </a:r>
                    </a:p>
                  </a:txBody>
                  <a:tcPr>
                    <a:solidFill>
                      <a:schemeClr val="accent5">
                        <a:lumMod val="75000"/>
                      </a:schemeClr>
                    </a:solidFill>
                  </a:tcPr>
                </a:tc>
                <a:tc>
                  <a:txBody>
                    <a:bodyPr/>
                    <a:lstStyle/>
                    <a:p>
                      <a:r>
                        <a:rPr lang="en-US" dirty="0"/>
                        <a:t>3</a:t>
                      </a:r>
                    </a:p>
                  </a:txBody>
                  <a:tcPr>
                    <a:solidFill>
                      <a:schemeClr val="accent5">
                        <a:lumMod val="75000"/>
                      </a:schemeClr>
                    </a:solidFill>
                  </a:tcPr>
                </a:tc>
                <a:tc>
                  <a:txBody>
                    <a:bodyPr/>
                    <a:lstStyle/>
                    <a:p>
                      <a:r>
                        <a:rPr lang="en-US" dirty="0"/>
                        <a:t>364.21</a:t>
                      </a:r>
                    </a:p>
                  </a:txBody>
                  <a:tcPr>
                    <a:solidFill>
                      <a:schemeClr val="accent5">
                        <a:lumMod val="75000"/>
                      </a:schemeClr>
                    </a:solidFill>
                  </a:tcPr>
                </a:tc>
                <a:tc>
                  <a:txBody>
                    <a:bodyPr/>
                    <a:lstStyle/>
                    <a:p>
                      <a:r>
                        <a:rPr lang="en-US" dirty="0"/>
                        <a:t>5</a:t>
                      </a:r>
                    </a:p>
                  </a:txBody>
                  <a:tcPr>
                    <a:solidFill>
                      <a:schemeClr val="accent5">
                        <a:lumMod val="75000"/>
                      </a:schemeClr>
                    </a:solidFill>
                  </a:tcPr>
                </a:tc>
                <a:tc>
                  <a:txBody>
                    <a:bodyPr/>
                    <a:lstStyle/>
                    <a:p>
                      <a:r>
                        <a:rPr lang="en-US" dirty="0"/>
                        <a:t>823.62</a:t>
                      </a:r>
                    </a:p>
                  </a:txBody>
                  <a:tcPr>
                    <a:solidFill>
                      <a:schemeClr val="accent5">
                        <a:lumMod val="75000"/>
                      </a:schemeClr>
                    </a:solidFill>
                  </a:tcPr>
                </a:tc>
                <a:extLst>
                  <a:ext uri="{0D108BD9-81ED-4DB2-BD59-A6C34878D82A}">
                    <a16:rowId xmlns:a16="http://schemas.microsoft.com/office/drawing/2014/main" val="1550695572"/>
                  </a:ext>
                </a:extLst>
              </a:tr>
              <a:tr h="457850">
                <a:tc>
                  <a:txBody>
                    <a:bodyPr/>
                    <a:lstStyle/>
                    <a:p>
                      <a:r>
                        <a:rPr lang="en-US" dirty="0"/>
                        <a:t>Q3</a:t>
                      </a:r>
                    </a:p>
                  </a:txBody>
                  <a:tcPr>
                    <a:solidFill>
                      <a:schemeClr val="accent5">
                        <a:lumMod val="75000"/>
                      </a:schemeClr>
                    </a:solidFill>
                  </a:tcPr>
                </a:tc>
                <a:tc>
                  <a:txBody>
                    <a:bodyPr/>
                    <a:lstStyle/>
                    <a:p>
                      <a:r>
                        <a:rPr lang="en-US" dirty="0"/>
                        <a:t>4</a:t>
                      </a:r>
                    </a:p>
                  </a:txBody>
                  <a:tcPr>
                    <a:solidFill>
                      <a:schemeClr val="accent5">
                        <a:lumMod val="75000"/>
                      </a:schemeClr>
                    </a:solidFill>
                  </a:tcPr>
                </a:tc>
                <a:tc>
                  <a:txBody>
                    <a:bodyPr/>
                    <a:lstStyle/>
                    <a:p>
                      <a:r>
                        <a:rPr lang="en-US" dirty="0"/>
                        <a:t>521.57</a:t>
                      </a:r>
                    </a:p>
                  </a:txBody>
                  <a:tcPr>
                    <a:solidFill>
                      <a:schemeClr val="accent5">
                        <a:lumMod val="75000"/>
                      </a:schemeClr>
                    </a:solidFill>
                  </a:tcPr>
                </a:tc>
                <a:tc>
                  <a:txBody>
                    <a:bodyPr/>
                    <a:lstStyle/>
                    <a:p>
                      <a:r>
                        <a:rPr lang="en-US" dirty="0"/>
                        <a:t>7</a:t>
                      </a:r>
                    </a:p>
                  </a:txBody>
                  <a:tcPr>
                    <a:solidFill>
                      <a:schemeClr val="accent5">
                        <a:lumMod val="75000"/>
                      </a:schemeClr>
                    </a:solidFill>
                  </a:tcPr>
                </a:tc>
                <a:tc>
                  <a:txBody>
                    <a:bodyPr/>
                    <a:lstStyle/>
                    <a:p>
                      <a:r>
                        <a:rPr lang="en-US" dirty="0"/>
                        <a:t>1578.48</a:t>
                      </a:r>
                    </a:p>
                  </a:txBody>
                  <a:tcPr>
                    <a:solidFill>
                      <a:schemeClr val="accent5">
                        <a:lumMod val="75000"/>
                      </a:schemeClr>
                    </a:solidFill>
                  </a:tcPr>
                </a:tc>
                <a:extLst>
                  <a:ext uri="{0D108BD9-81ED-4DB2-BD59-A6C34878D82A}">
                    <a16:rowId xmlns:a16="http://schemas.microsoft.com/office/drawing/2014/main" val="3371674539"/>
                  </a:ext>
                </a:extLst>
              </a:tr>
              <a:tr h="457850">
                <a:tc>
                  <a:txBody>
                    <a:bodyPr/>
                    <a:lstStyle/>
                    <a:p>
                      <a:r>
                        <a:rPr lang="en-US" dirty="0"/>
                        <a:t>Min</a:t>
                      </a:r>
                    </a:p>
                  </a:txBody>
                  <a:tcPr>
                    <a:solidFill>
                      <a:schemeClr val="accent5">
                        <a:lumMod val="75000"/>
                      </a:schemeClr>
                    </a:solidFill>
                  </a:tcPr>
                </a:tc>
                <a:tc>
                  <a:txBody>
                    <a:bodyPr/>
                    <a:lstStyle/>
                    <a:p>
                      <a:r>
                        <a:rPr lang="en-US" dirty="0"/>
                        <a:t>1</a:t>
                      </a:r>
                    </a:p>
                  </a:txBody>
                  <a:tcPr>
                    <a:solidFill>
                      <a:schemeClr val="accent5">
                        <a:lumMod val="75000"/>
                      </a:schemeClr>
                    </a:solidFill>
                  </a:tcPr>
                </a:tc>
                <a:tc>
                  <a:txBody>
                    <a:bodyPr/>
                    <a:lstStyle/>
                    <a:p>
                      <a:r>
                        <a:rPr lang="en-US" dirty="0"/>
                        <a:t>11.39</a:t>
                      </a:r>
                    </a:p>
                  </a:txBody>
                  <a:tcPr>
                    <a:solidFill>
                      <a:schemeClr val="accent5">
                        <a:lumMod val="75000"/>
                      </a:schemeClr>
                    </a:solidFill>
                  </a:tcPr>
                </a:tc>
                <a:tc>
                  <a:txBody>
                    <a:bodyPr/>
                    <a:lstStyle/>
                    <a:p>
                      <a:r>
                        <a:rPr lang="en-US" dirty="0"/>
                        <a:t>1</a:t>
                      </a:r>
                    </a:p>
                  </a:txBody>
                  <a:tcPr>
                    <a:solidFill>
                      <a:schemeClr val="accent5">
                        <a:lumMod val="75000"/>
                      </a:schemeClr>
                    </a:solidFill>
                  </a:tcPr>
                </a:tc>
                <a:tc>
                  <a:txBody>
                    <a:bodyPr/>
                    <a:lstStyle/>
                    <a:p>
                      <a:r>
                        <a:rPr lang="en-US" dirty="0"/>
                        <a:t>11.39</a:t>
                      </a:r>
                    </a:p>
                  </a:txBody>
                  <a:tcPr>
                    <a:solidFill>
                      <a:schemeClr val="accent5">
                        <a:lumMod val="75000"/>
                      </a:schemeClr>
                    </a:solidFill>
                  </a:tcPr>
                </a:tc>
                <a:extLst>
                  <a:ext uri="{0D108BD9-81ED-4DB2-BD59-A6C34878D82A}">
                    <a16:rowId xmlns:a16="http://schemas.microsoft.com/office/drawing/2014/main" val="4278903436"/>
                  </a:ext>
                </a:extLst>
              </a:tr>
              <a:tr h="457850">
                <a:tc>
                  <a:txBody>
                    <a:bodyPr/>
                    <a:lstStyle/>
                    <a:p>
                      <a:r>
                        <a:rPr lang="en-US" dirty="0"/>
                        <a:t>Max</a:t>
                      </a:r>
                    </a:p>
                  </a:txBody>
                  <a:tcPr>
                    <a:solidFill>
                      <a:schemeClr val="accent5">
                        <a:lumMod val="75000"/>
                      </a:schemeClr>
                    </a:solidFill>
                  </a:tcPr>
                </a:tc>
                <a:tc>
                  <a:txBody>
                    <a:bodyPr/>
                    <a:lstStyle/>
                    <a:p>
                      <a:r>
                        <a:rPr lang="en-US" dirty="0"/>
                        <a:t>5</a:t>
                      </a:r>
                    </a:p>
                  </a:txBody>
                  <a:tcPr>
                    <a:solidFill>
                      <a:schemeClr val="accent5">
                        <a:lumMod val="75000"/>
                      </a:schemeClr>
                    </a:solidFill>
                  </a:tcPr>
                </a:tc>
                <a:tc>
                  <a:txBody>
                    <a:bodyPr/>
                    <a:lstStyle/>
                    <a:p>
                      <a:r>
                        <a:rPr lang="en-US" dirty="0"/>
                        <a:t>699.93</a:t>
                      </a:r>
                    </a:p>
                  </a:txBody>
                  <a:tcPr>
                    <a:solidFill>
                      <a:schemeClr val="accent5">
                        <a:lumMod val="75000"/>
                      </a:schemeClr>
                    </a:solidFill>
                  </a:tcPr>
                </a:tc>
                <a:tc>
                  <a:txBody>
                    <a:bodyPr/>
                    <a:lstStyle/>
                    <a:p>
                      <a:r>
                        <a:rPr lang="en-US" dirty="0"/>
                        <a:t>10</a:t>
                      </a:r>
                    </a:p>
                  </a:txBody>
                  <a:tcPr>
                    <a:solidFill>
                      <a:schemeClr val="accent5">
                        <a:lumMod val="75000"/>
                      </a:schemeClr>
                    </a:solidFill>
                  </a:tcPr>
                </a:tc>
                <a:tc>
                  <a:txBody>
                    <a:bodyPr/>
                    <a:lstStyle/>
                    <a:p>
                      <a:r>
                        <a:rPr lang="en-US" dirty="0"/>
                        <a:t>3456.4</a:t>
                      </a:r>
                    </a:p>
                  </a:txBody>
                  <a:tcPr>
                    <a:solidFill>
                      <a:schemeClr val="accent5">
                        <a:lumMod val="75000"/>
                      </a:schemeClr>
                    </a:solidFill>
                  </a:tcPr>
                </a:tc>
                <a:extLst>
                  <a:ext uri="{0D108BD9-81ED-4DB2-BD59-A6C34878D82A}">
                    <a16:rowId xmlns:a16="http://schemas.microsoft.com/office/drawing/2014/main" val="1623736565"/>
                  </a:ext>
                </a:extLst>
              </a:tr>
              <a:tr h="457850">
                <a:tc>
                  <a:txBody>
                    <a:bodyPr/>
                    <a:lstStyle/>
                    <a:p>
                      <a:r>
                        <a:rPr lang="en-US" dirty="0"/>
                        <a:t>Standard deviation</a:t>
                      </a:r>
                    </a:p>
                  </a:txBody>
                  <a:tcPr>
                    <a:solidFill>
                      <a:schemeClr val="accent5">
                        <a:lumMod val="75000"/>
                      </a:schemeClr>
                    </a:solidFill>
                  </a:tcPr>
                </a:tc>
                <a:tc>
                  <a:txBody>
                    <a:bodyPr/>
                    <a:lstStyle/>
                    <a:p>
                      <a:r>
                        <a:rPr lang="en-US" dirty="0"/>
                        <a:t>1.41</a:t>
                      </a:r>
                    </a:p>
                  </a:txBody>
                  <a:tcPr>
                    <a:solidFill>
                      <a:schemeClr val="accent5">
                        <a:lumMod val="75000"/>
                      </a:schemeClr>
                    </a:solidFill>
                  </a:tcPr>
                </a:tc>
                <a:tc>
                  <a:txBody>
                    <a:bodyPr/>
                    <a:lstStyle/>
                    <a:p>
                      <a:r>
                        <a:rPr lang="en-US" dirty="0"/>
                        <a:t>197.18</a:t>
                      </a:r>
                    </a:p>
                  </a:txBody>
                  <a:tcPr>
                    <a:solidFill>
                      <a:schemeClr val="accent5">
                        <a:lumMod val="75000"/>
                      </a:schemeClr>
                    </a:solidFill>
                  </a:tcPr>
                </a:tc>
                <a:tc>
                  <a:txBody>
                    <a:bodyPr/>
                    <a:lstStyle/>
                    <a:p>
                      <a:r>
                        <a:rPr lang="en-US" dirty="0"/>
                        <a:t>2.28</a:t>
                      </a:r>
                    </a:p>
                  </a:txBody>
                  <a:tcPr>
                    <a:solidFill>
                      <a:schemeClr val="accent5">
                        <a:lumMod val="75000"/>
                      </a:schemeClr>
                    </a:solidFill>
                  </a:tcPr>
                </a:tc>
                <a:tc>
                  <a:txBody>
                    <a:bodyPr/>
                    <a:lstStyle/>
                    <a:p>
                      <a:r>
                        <a:rPr lang="en-US" dirty="0"/>
                        <a:t>819.86</a:t>
                      </a:r>
                    </a:p>
                  </a:txBody>
                  <a:tcPr>
                    <a:solidFill>
                      <a:schemeClr val="accent5">
                        <a:lumMod val="75000"/>
                      </a:schemeClr>
                    </a:solidFill>
                  </a:tcPr>
                </a:tc>
                <a:extLst>
                  <a:ext uri="{0D108BD9-81ED-4DB2-BD59-A6C34878D82A}">
                    <a16:rowId xmlns:a16="http://schemas.microsoft.com/office/drawing/2014/main" val="4288960602"/>
                  </a:ext>
                </a:extLst>
              </a:tr>
              <a:tr h="457850">
                <a:tc>
                  <a:txBody>
                    <a:bodyPr/>
                    <a:lstStyle/>
                    <a:p>
                      <a:r>
                        <a:rPr lang="en-US" dirty="0"/>
                        <a:t>Skewness</a:t>
                      </a:r>
                    </a:p>
                  </a:txBody>
                  <a:tcPr>
                    <a:solidFill>
                      <a:schemeClr val="accent5">
                        <a:lumMod val="75000"/>
                      </a:schemeClr>
                    </a:solidFill>
                  </a:tcPr>
                </a:tc>
                <a:tc>
                  <a:txBody>
                    <a:bodyPr/>
                    <a:lstStyle/>
                    <a:p>
                      <a:r>
                        <a:rPr lang="en-US" dirty="0"/>
                        <a:t>0.03</a:t>
                      </a:r>
                    </a:p>
                  </a:txBody>
                  <a:tcPr>
                    <a:solidFill>
                      <a:schemeClr val="accent5">
                        <a:lumMod val="75000"/>
                      </a:schemeClr>
                    </a:solidFill>
                  </a:tcPr>
                </a:tc>
                <a:tc>
                  <a:txBody>
                    <a:bodyPr/>
                    <a:lstStyle/>
                    <a:p>
                      <a:r>
                        <a:rPr lang="en-US" dirty="0"/>
                        <a:t>-0.03</a:t>
                      </a:r>
                    </a:p>
                  </a:txBody>
                  <a:tcPr>
                    <a:solidFill>
                      <a:schemeClr val="accent5">
                        <a:lumMod val="75000"/>
                      </a:schemeClr>
                    </a:solidFill>
                  </a:tcPr>
                </a:tc>
                <a:tc>
                  <a:txBody>
                    <a:bodyPr/>
                    <a:lstStyle/>
                    <a:p>
                      <a:r>
                        <a:rPr lang="en-US" dirty="0"/>
                        <a:t>0</a:t>
                      </a:r>
                    </a:p>
                  </a:txBody>
                  <a:tcPr>
                    <a:solidFill>
                      <a:schemeClr val="accent5">
                        <a:lumMod val="75000"/>
                      </a:schemeClr>
                    </a:solidFill>
                  </a:tcPr>
                </a:tc>
                <a:tc>
                  <a:txBody>
                    <a:bodyPr/>
                    <a:lstStyle/>
                    <a:p>
                      <a:r>
                        <a:rPr lang="en-US" dirty="0"/>
                        <a:t>0.89</a:t>
                      </a:r>
                    </a:p>
                  </a:txBody>
                  <a:tcPr>
                    <a:solidFill>
                      <a:schemeClr val="accent5">
                        <a:lumMod val="75000"/>
                      </a:schemeClr>
                    </a:solidFill>
                  </a:tcPr>
                </a:tc>
                <a:extLst>
                  <a:ext uri="{0D108BD9-81ED-4DB2-BD59-A6C34878D82A}">
                    <a16:rowId xmlns:a16="http://schemas.microsoft.com/office/drawing/2014/main" val="3363469756"/>
                  </a:ext>
                </a:extLst>
              </a:tr>
              <a:tr h="457850">
                <a:tc>
                  <a:txBody>
                    <a:bodyPr/>
                    <a:lstStyle/>
                    <a:p>
                      <a:r>
                        <a:rPr lang="en-US" dirty="0"/>
                        <a:t>Kurtosis</a:t>
                      </a:r>
                    </a:p>
                  </a:txBody>
                  <a:tcPr>
                    <a:solidFill>
                      <a:schemeClr val="accent5">
                        <a:lumMod val="75000"/>
                      </a:schemeClr>
                    </a:solidFill>
                  </a:tcPr>
                </a:tc>
                <a:tc>
                  <a:txBody>
                    <a:bodyPr/>
                    <a:lstStyle/>
                    <a:p>
                      <a:r>
                        <a:rPr lang="en-US" dirty="0"/>
                        <a:t>-1.29</a:t>
                      </a:r>
                    </a:p>
                  </a:txBody>
                  <a:tcPr>
                    <a:solidFill>
                      <a:schemeClr val="accent5">
                        <a:lumMod val="75000"/>
                      </a:schemeClr>
                    </a:solidFill>
                  </a:tcPr>
                </a:tc>
                <a:tc>
                  <a:txBody>
                    <a:bodyPr/>
                    <a:lstStyle/>
                    <a:p>
                      <a:r>
                        <a:rPr lang="en-US" dirty="0"/>
                        <a:t>-1.19</a:t>
                      </a:r>
                    </a:p>
                  </a:txBody>
                  <a:tcPr>
                    <a:solidFill>
                      <a:schemeClr val="accent5">
                        <a:lumMod val="75000"/>
                      </a:schemeClr>
                    </a:solidFill>
                  </a:tcPr>
                </a:tc>
                <a:tc>
                  <a:txBody>
                    <a:bodyPr/>
                    <a:lstStyle/>
                    <a:p>
                      <a:r>
                        <a:rPr lang="en-US" dirty="0"/>
                        <a:t>-0.71</a:t>
                      </a:r>
                    </a:p>
                  </a:txBody>
                  <a:tcPr>
                    <a:solidFill>
                      <a:schemeClr val="accent5">
                        <a:lumMod val="75000"/>
                      </a:schemeClr>
                    </a:solidFill>
                  </a:tcPr>
                </a:tc>
                <a:tc>
                  <a:txBody>
                    <a:bodyPr/>
                    <a:lstStyle/>
                    <a:p>
                      <a:r>
                        <a:rPr lang="en-US" dirty="0"/>
                        <a:t>-0.05</a:t>
                      </a:r>
                    </a:p>
                  </a:txBody>
                  <a:tcPr>
                    <a:solidFill>
                      <a:schemeClr val="accent5">
                        <a:lumMod val="75000"/>
                      </a:schemeClr>
                    </a:solidFill>
                  </a:tcPr>
                </a:tc>
                <a:extLst>
                  <a:ext uri="{0D108BD9-81ED-4DB2-BD59-A6C34878D82A}">
                    <a16:rowId xmlns:a16="http://schemas.microsoft.com/office/drawing/2014/main" val="268509562"/>
                  </a:ext>
                </a:extLst>
              </a:tr>
            </a:tbl>
          </a:graphicData>
        </a:graphic>
      </p:graphicFrame>
    </p:spTree>
    <p:extLst>
      <p:ext uri="{BB962C8B-B14F-4D97-AF65-F5344CB8AC3E}">
        <p14:creationId xmlns:p14="http://schemas.microsoft.com/office/powerpoint/2010/main" val="399720614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a:extLst>
            <a:ext uri="{FF2B5EF4-FFF2-40B4-BE49-F238E27FC236}">
              <a16:creationId xmlns:a16="http://schemas.microsoft.com/office/drawing/2014/main" id="{80C2F5F1-16B8-3192-6658-375D2B927E9D}"/>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4A96D1EA-1EE3-94B3-73CE-3D1DF108DFFF}"/>
              </a:ext>
            </a:extLst>
          </p:cNvPr>
          <p:cNvGrpSpPr/>
          <p:nvPr/>
        </p:nvGrpSpPr>
        <p:grpSpPr>
          <a:xfrm>
            <a:off x="0" y="0"/>
            <a:ext cx="18288000" cy="10287000"/>
            <a:chOff x="0" y="0"/>
            <a:chExt cx="24384000" cy="13716000"/>
          </a:xfrm>
        </p:grpSpPr>
        <p:sp>
          <p:nvSpPr>
            <p:cNvPr id="3" name="Freeform 3">
              <a:extLst>
                <a:ext uri="{FF2B5EF4-FFF2-40B4-BE49-F238E27FC236}">
                  <a16:creationId xmlns:a16="http://schemas.microsoft.com/office/drawing/2014/main" id="{D30E14C8-2122-4E3D-070C-7E86AC511805}"/>
                </a:ext>
              </a:extLst>
            </p:cNvPr>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close/>
                </a:path>
              </a:pathLst>
            </a:custGeom>
            <a:solidFill>
              <a:srgbClr val="50738C"/>
            </a:solidFill>
          </p:spPr>
          <p:txBody>
            <a:bodyPr/>
            <a:lstStyle/>
            <a:p>
              <a:endParaRPr lang="en-US"/>
            </a:p>
          </p:txBody>
        </p:sp>
      </p:grpSp>
      <p:grpSp>
        <p:nvGrpSpPr>
          <p:cNvPr id="4" name="Group 4">
            <a:extLst>
              <a:ext uri="{FF2B5EF4-FFF2-40B4-BE49-F238E27FC236}">
                <a16:creationId xmlns:a16="http://schemas.microsoft.com/office/drawing/2014/main" id="{5629D938-71BF-7439-13F6-B7032F58E806}"/>
              </a:ext>
            </a:extLst>
          </p:cNvPr>
          <p:cNvGrpSpPr/>
          <p:nvPr/>
        </p:nvGrpSpPr>
        <p:grpSpPr>
          <a:xfrm>
            <a:off x="29028" y="0"/>
            <a:ext cx="18288000" cy="10287000"/>
            <a:chOff x="0" y="0"/>
            <a:chExt cx="24384000" cy="13716000"/>
          </a:xfrm>
        </p:grpSpPr>
        <p:sp>
          <p:nvSpPr>
            <p:cNvPr id="5" name="Freeform 5">
              <a:extLst>
                <a:ext uri="{FF2B5EF4-FFF2-40B4-BE49-F238E27FC236}">
                  <a16:creationId xmlns:a16="http://schemas.microsoft.com/office/drawing/2014/main" id="{3188D367-775B-FB4C-BBFA-59275F7F8600}"/>
                </a:ext>
              </a:extLst>
            </p:cNvPr>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close/>
                </a:path>
              </a:pathLst>
            </a:custGeom>
            <a:solidFill>
              <a:srgbClr val="FFFCF5"/>
            </a:solidFill>
          </p:spPr>
          <p:txBody>
            <a:bodyPr/>
            <a:lstStyle/>
            <a:p>
              <a:endParaRPr lang="en-US"/>
            </a:p>
          </p:txBody>
        </p:sp>
      </p:grpSp>
      <p:sp>
        <p:nvSpPr>
          <p:cNvPr id="10" name="TextBox 10">
            <a:extLst>
              <a:ext uri="{FF2B5EF4-FFF2-40B4-BE49-F238E27FC236}">
                <a16:creationId xmlns:a16="http://schemas.microsoft.com/office/drawing/2014/main" id="{46DC6A02-777F-2350-B62A-8C16BE57BA73}"/>
              </a:ext>
            </a:extLst>
          </p:cNvPr>
          <p:cNvSpPr txBox="1"/>
          <p:nvPr/>
        </p:nvSpPr>
        <p:spPr>
          <a:xfrm>
            <a:off x="382293" y="7296501"/>
            <a:ext cx="17687648" cy="2990499"/>
          </a:xfrm>
          <a:prstGeom prst="rect">
            <a:avLst/>
          </a:prstGeom>
        </p:spPr>
        <p:txBody>
          <a:bodyPr wrap="square" lIns="0" tIns="0" rIns="0" bIns="0" rtlCol="0" anchor="t">
            <a:spAutoFit/>
          </a:bodyPr>
          <a:lstStyle/>
          <a:p>
            <a:pPr algn="l">
              <a:lnSpc>
                <a:spcPts val="5990"/>
              </a:lnSpc>
            </a:pPr>
            <a:r>
              <a:rPr lang="en-US" sz="3600" b="1" dirty="0">
                <a:solidFill>
                  <a:srgbClr val="124E73"/>
                </a:solidFill>
                <a:latin typeface="Museo Moderno Medium"/>
                <a:ea typeface="Museo Moderno Medium"/>
                <a:cs typeface="Museo Moderno Medium"/>
                <a:sym typeface="Museo Moderno Medium"/>
              </a:rPr>
              <a:t>Comment:</a:t>
            </a:r>
          </a:p>
          <a:p>
            <a:pPr algn="l">
              <a:lnSpc>
                <a:spcPts val="5990"/>
              </a:lnSpc>
            </a:pPr>
            <a:r>
              <a:rPr lang="en-US" sz="3600" b="1" dirty="0">
                <a:solidFill>
                  <a:srgbClr val="124E73"/>
                </a:solidFill>
                <a:latin typeface="Museo Moderno Medium"/>
                <a:ea typeface="Museo Moderno Medium"/>
                <a:cs typeface="Museo Moderno Medium"/>
                <a:sym typeface="Museo Moderno Medium"/>
              </a:rPr>
              <a:t>This figures show the distribution of total price and unit price using histograms which shows that total price is negatively skewed with the majority of order prices are between 0-500 while unit price doesn’t have major differences between groups </a:t>
            </a:r>
          </a:p>
        </p:txBody>
      </p:sp>
      <p:pic>
        <p:nvPicPr>
          <p:cNvPr id="7" name="Picture 6">
            <a:extLst>
              <a:ext uri="{FF2B5EF4-FFF2-40B4-BE49-F238E27FC236}">
                <a16:creationId xmlns:a16="http://schemas.microsoft.com/office/drawing/2014/main" id="{DC4C18CE-594D-E057-3FFC-DC40AFEF4784}"/>
              </a:ext>
            </a:extLst>
          </p:cNvPr>
          <p:cNvPicPr>
            <a:picLocks noChangeAspect="1"/>
          </p:cNvPicPr>
          <p:nvPr/>
        </p:nvPicPr>
        <p:blipFill>
          <a:blip r:embed="rId3"/>
          <a:stretch>
            <a:fillRect/>
          </a:stretch>
        </p:blipFill>
        <p:spPr>
          <a:xfrm>
            <a:off x="24061" y="0"/>
            <a:ext cx="9119939" cy="7229780"/>
          </a:xfrm>
          <a:prstGeom prst="rect">
            <a:avLst/>
          </a:prstGeom>
        </p:spPr>
      </p:pic>
      <p:pic>
        <p:nvPicPr>
          <p:cNvPr id="9" name="Picture 8">
            <a:extLst>
              <a:ext uri="{FF2B5EF4-FFF2-40B4-BE49-F238E27FC236}">
                <a16:creationId xmlns:a16="http://schemas.microsoft.com/office/drawing/2014/main" id="{731357CB-3CE6-B3AE-2D02-0964E97AAA4F}"/>
              </a:ext>
            </a:extLst>
          </p:cNvPr>
          <p:cNvPicPr>
            <a:picLocks noChangeAspect="1"/>
          </p:cNvPicPr>
          <p:nvPr/>
        </p:nvPicPr>
        <p:blipFill>
          <a:blip r:embed="rId4"/>
          <a:stretch>
            <a:fillRect/>
          </a:stretch>
        </p:blipFill>
        <p:spPr>
          <a:xfrm>
            <a:off x="9226117" y="0"/>
            <a:ext cx="9119939" cy="7229780"/>
          </a:xfrm>
          <a:prstGeom prst="rect">
            <a:avLst/>
          </a:prstGeom>
        </p:spPr>
      </p:pic>
    </p:spTree>
    <p:extLst>
      <p:ext uri="{BB962C8B-B14F-4D97-AF65-F5344CB8AC3E}">
        <p14:creationId xmlns:p14="http://schemas.microsoft.com/office/powerpoint/2010/main" val="369600577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a:extLst>
            <a:ext uri="{FF2B5EF4-FFF2-40B4-BE49-F238E27FC236}">
              <a16:creationId xmlns:a16="http://schemas.microsoft.com/office/drawing/2014/main" id="{2AAC083C-0839-FC31-990B-8545AA7B683F}"/>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0190028A-3BEE-0E00-4567-310199352D74}"/>
              </a:ext>
            </a:extLst>
          </p:cNvPr>
          <p:cNvGrpSpPr/>
          <p:nvPr/>
        </p:nvGrpSpPr>
        <p:grpSpPr>
          <a:xfrm>
            <a:off x="0" y="0"/>
            <a:ext cx="18288000" cy="10287000"/>
            <a:chOff x="0" y="0"/>
            <a:chExt cx="24384000" cy="13716000"/>
          </a:xfrm>
        </p:grpSpPr>
        <p:sp>
          <p:nvSpPr>
            <p:cNvPr id="3" name="Freeform 3">
              <a:extLst>
                <a:ext uri="{FF2B5EF4-FFF2-40B4-BE49-F238E27FC236}">
                  <a16:creationId xmlns:a16="http://schemas.microsoft.com/office/drawing/2014/main" id="{65A3D619-54E3-FF3A-5ED9-7A3258F46843}"/>
                </a:ext>
              </a:extLst>
            </p:cNvPr>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close/>
                </a:path>
              </a:pathLst>
            </a:custGeom>
            <a:solidFill>
              <a:srgbClr val="50738C"/>
            </a:solidFill>
          </p:spPr>
          <p:txBody>
            <a:bodyPr/>
            <a:lstStyle/>
            <a:p>
              <a:endParaRPr lang="en-US"/>
            </a:p>
          </p:txBody>
        </p:sp>
      </p:grpSp>
      <p:grpSp>
        <p:nvGrpSpPr>
          <p:cNvPr id="4" name="Group 4">
            <a:extLst>
              <a:ext uri="{FF2B5EF4-FFF2-40B4-BE49-F238E27FC236}">
                <a16:creationId xmlns:a16="http://schemas.microsoft.com/office/drawing/2014/main" id="{8AF880FF-E1E5-733E-D680-1E30A3EEEE2C}"/>
              </a:ext>
            </a:extLst>
          </p:cNvPr>
          <p:cNvGrpSpPr/>
          <p:nvPr/>
        </p:nvGrpSpPr>
        <p:grpSpPr>
          <a:xfrm>
            <a:off x="29028" y="0"/>
            <a:ext cx="18288000" cy="10287000"/>
            <a:chOff x="0" y="0"/>
            <a:chExt cx="24384000" cy="13716000"/>
          </a:xfrm>
        </p:grpSpPr>
        <p:sp>
          <p:nvSpPr>
            <p:cNvPr id="5" name="Freeform 5">
              <a:extLst>
                <a:ext uri="{FF2B5EF4-FFF2-40B4-BE49-F238E27FC236}">
                  <a16:creationId xmlns:a16="http://schemas.microsoft.com/office/drawing/2014/main" id="{17462AB8-8051-7CB5-00FE-2B0925ED12FB}"/>
                </a:ext>
              </a:extLst>
            </p:cNvPr>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close/>
                </a:path>
              </a:pathLst>
            </a:custGeom>
            <a:solidFill>
              <a:srgbClr val="FFFCF5"/>
            </a:solidFill>
          </p:spPr>
          <p:txBody>
            <a:bodyPr/>
            <a:lstStyle/>
            <a:p>
              <a:endParaRPr lang="en-US" dirty="0"/>
            </a:p>
          </p:txBody>
        </p:sp>
      </p:grpSp>
      <p:sp>
        <p:nvSpPr>
          <p:cNvPr id="10" name="TextBox 10">
            <a:extLst>
              <a:ext uri="{FF2B5EF4-FFF2-40B4-BE49-F238E27FC236}">
                <a16:creationId xmlns:a16="http://schemas.microsoft.com/office/drawing/2014/main" id="{251D2A06-70E2-F88A-0A53-37DA7159F18B}"/>
              </a:ext>
            </a:extLst>
          </p:cNvPr>
          <p:cNvSpPr txBox="1"/>
          <p:nvPr/>
        </p:nvSpPr>
        <p:spPr>
          <a:xfrm>
            <a:off x="275771" y="115389"/>
            <a:ext cx="14790057" cy="682174"/>
          </a:xfrm>
          <a:prstGeom prst="rect">
            <a:avLst/>
          </a:prstGeom>
        </p:spPr>
        <p:txBody>
          <a:bodyPr wrap="square" lIns="0" tIns="0" rIns="0" bIns="0" rtlCol="0" anchor="t">
            <a:spAutoFit/>
          </a:bodyPr>
          <a:lstStyle/>
          <a:p>
            <a:pPr algn="l">
              <a:lnSpc>
                <a:spcPts val="5990"/>
              </a:lnSpc>
            </a:pPr>
            <a:r>
              <a:rPr lang="en-US" sz="3600" b="1" dirty="0">
                <a:solidFill>
                  <a:srgbClr val="124E73"/>
                </a:solidFill>
                <a:latin typeface="Museo Moderno Medium"/>
                <a:ea typeface="Museo Moderno Medium"/>
                <a:cs typeface="Museo Moderno Medium"/>
                <a:sym typeface="Museo Moderno Medium"/>
              </a:rPr>
              <a:t>Categorical measures :</a:t>
            </a:r>
          </a:p>
        </p:txBody>
      </p:sp>
      <p:graphicFrame>
        <p:nvGraphicFramePr>
          <p:cNvPr id="7" name="Table 6">
            <a:extLst>
              <a:ext uri="{FF2B5EF4-FFF2-40B4-BE49-F238E27FC236}">
                <a16:creationId xmlns:a16="http://schemas.microsoft.com/office/drawing/2014/main" id="{8A7865F9-064E-D49F-5FB5-6C3B02489050}"/>
              </a:ext>
            </a:extLst>
          </p:cNvPr>
          <p:cNvGraphicFramePr>
            <a:graphicFrameLocks noGrp="1"/>
          </p:cNvGraphicFramePr>
          <p:nvPr>
            <p:extLst>
              <p:ext uri="{D42A27DB-BD31-4B8C-83A1-F6EECF244321}">
                <p14:modId xmlns:p14="http://schemas.microsoft.com/office/powerpoint/2010/main" val="2109101761"/>
              </p:ext>
            </p:extLst>
          </p:nvPr>
        </p:nvGraphicFramePr>
        <p:xfrm>
          <a:off x="275771" y="912952"/>
          <a:ext cx="7605486" cy="2926080"/>
        </p:xfrm>
        <a:graphic>
          <a:graphicData uri="http://schemas.openxmlformats.org/drawingml/2006/table">
            <a:tbl>
              <a:tblPr firstRow="1" bandRow="1">
                <a:tableStyleId>{5C22544A-7EE6-4342-B048-85BDC9FD1C3A}</a:tableStyleId>
              </a:tblPr>
              <a:tblGrid>
                <a:gridCol w="2535162">
                  <a:extLst>
                    <a:ext uri="{9D8B030D-6E8A-4147-A177-3AD203B41FA5}">
                      <a16:colId xmlns:a16="http://schemas.microsoft.com/office/drawing/2014/main" val="3046047931"/>
                    </a:ext>
                  </a:extLst>
                </a:gridCol>
                <a:gridCol w="2535162">
                  <a:extLst>
                    <a:ext uri="{9D8B030D-6E8A-4147-A177-3AD203B41FA5}">
                      <a16:colId xmlns:a16="http://schemas.microsoft.com/office/drawing/2014/main" val="361065333"/>
                    </a:ext>
                  </a:extLst>
                </a:gridCol>
                <a:gridCol w="2535162">
                  <a:extLst>
                    <a:ext uri="{9D8B030D-6E8A-4147-A177-3AD203B41FA5}">
                      <a16:colId xmlns:a16="http://schemas.microsoft.com/office/drawing/2014/main" val="51396947"/>
                    </a:ext>
                  </a:extLst>
                </a:gridCol>
              </a:tblGrid>
              <a:tr h="288744">
                <a:tc>
                  <a:txBody>
                    <a:bodyPr/>
                    <a:lstStyle/>
                    <a:p>
                      <a:r>
                        <a:rPr lang="en-US" sz="1800" b="1" dirty="0">
                          <a:solidFill>
                            <a:schemeClr val="bg1"/>
                          </a:solidFill>
                          <a:latin typeface="+mn-lt"/>
                          <a:cs typeface="Museo Moderno Medium"/>
                          <a:sym typeface="Museo Moderno Medium"/>
                        </a:rPr>
                        <a:t>product</a:t>
                      </a:r>
                      <a:endParaRPr lang="en-US" dirty="0">
                        <a:solidFill>
                          <a:schemeClr val="bg1"/>
                        </a:solidFill>
                        <a:latin typeface="+mn-lt"/>
                      </a:endParaRPr>
                    </a:p>
                  </a:txBody>
                  <a:tcPr>
                    <a:solidFill>
                      <a:schemeClr val="accent5">
                        <a:lumMod val="75000"/>
                      </a:schemeClr>
                    </a:solidFill>
                  </a:tcPr>
                </a:tc>
                <a:tc>
                  <a:txBody>
                    <a:bodyPr/>
                    <a:lstStyle/>
                    <a:p>
                      <a:r>
                        <a:rPr lang="en-US" sz="1800" b="1" dirty="0">
                          <a:solidFill>
                            <a:schemeClr val="bg1"/>
                          </a:solidFill>
                          <a:latin typeface="+mn-lt"/>
                          <a:ea typeface="Museo Moderno Medium"/>
                          <a:cs typeface="Museo Moderno Medium"/>
                          <a:sym typeface="Museo Moderno Medium"/>
                        </a:rPr>
                        <a:t>Frequency</a:t>
                      </a:r>
                      <a:endParaRPr lang="en-US" dirty="0">
                        <a:solidFill>
                          <a:schemeClr val="bg1"/>
                        </a:solidFill>
                        <a:latin typeface="+mn-lt"/>
                      </a:endParaRPr>
                    </a:p>
                  </a:txBody>
                  <a:tcPr>
                    <a:solidFill>
                      <a:schemeClr val="accent5">
                        <a:lumMod val="75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b="1" dirty="0">
                          <a:solidFill>
                            <a:schemeClr val="bg1"/>
                          </a:solidFill>
                          <a:latin typeface="+mn-lt"/>
                          <a:ea typeface="Museo Moderno Medium"/>
                          <a:cs typeface="Museo Moderno Medium"/>
                          <a:sym typeface="Museo Moderno Medium"/>
                        </a:rPr>
                        <a:t>Relative Frequency</a:t>
                      </a:r>
                      <a:endParaRPr lang="en-US" dirty="0">
                        <a:solidFill>
                          <a:schemeClr val="bg1"/>
                        </a:solidFill>
                        <a:latin typeface="+mn-lt"/>
                      </a:endParaRPr>
                    </a:p>
                  </a:txBody>
                  <a:tcPr>
                    <a:solidFill>
                      <a:schemeClr val="accent5">
                        <a:lumMod val="75000"/>
                      </a:schemeClr>
                    </a:solidFill>
                  </a:tcPr>
                </a:tc>
                <a:extLst>
                  <a:ext uri="{0D108BD9-81ED-4DB2-BD59-A6C34878D82A}">
                    <a16:rowId xmlns:a16="http://schemas.microsoft.com/office/drawing/2014/main" val="2242364299"/>
                  </a:ext>
                </a:extLst>
              </a:tr>
              <a:tr h="288744">
                <a:tc>
                  <a:txBody>
                    <a:bodyPr/>
                    <a:lstStyle/>
                    <a:p>
                      <a:r>
                        <a:rPr lang="en-US" sz="1800" b="0" dirty="0">
                          <a:solidFill>
                            <a:schemeClr val="tx1"/>
                          </a:solidFill>
                          <a:latin typeface="+mn-lt"/>
                          <a:ea typeface="Museo Moderno Medium"/>
                          <a:cs typeface="Museo Moderno Medium"/>
                          <a:sym typeface="Museo Moderno Medium"/>
                        </a:rPr>
                        <a:t>Printer</a:t>
                      </a:r>
                      <a:endParaRPr lang="en-US" b="0" dirty="0">
                        <a:solidFill>
                          <a:schemeClr val="tx1"/>
                        </a:solidFill>
                        <a:latin typeface="+mn-lt"/>
                      </a:endParaRPr>
                    </a:p>
                  </a:txBody>
                  <a:tcPr>
                    <a:solidFill>
                      <a:schemeClr val="accent5">
                        <a:lumMod val="75000"/>
                      </a:schemeClr>
                    </a:solidFill>
                  </a:tcPr>
                </a:tc>
                <a:tc>
                  <a:txBody>
                    <a:bodyPr/>
                    <a:lstStyle/>
                    <a:p>
                      <a:r>
                        <a:rPr lang="en-US" dirty="0"/>
                        <a:t>181</a:t>
                      </a:r>
                    </a:p>
                  </a:txBody>
                  <a:tcPr>
                    <a:solidFill>
                      <a:schemeClr val="accent5">
                        <a:lumMod val="75000"/>
                      </a:schemeClr>
                    </a:solidFill>
                  </a:tcPr>
                </a:tc>
                <a:tc>
                  <a:txBody>
                    <a:bodyPr/>
                    <a:lstStyle/>
                    <a:p>
                      <a:r>
                        <a:rPr lang="en-US" dirty="0"/>
                        <a:t>15.08%</a:t>
                      </a:r>
                    </a:p>
                  </a:txBody>
                  <a:tcPr>
                    <a:solidFill>
                      <a:schemeClr val="accent5">
                        <a:lumMod val="75000"/>
                      </a:schemeClr>
                    </a:solidFill>
                  </a:tcPr>
                </a:tc>
                <a:extLst>
                  <a:ext uri="{0D108BD9-81ED-4DB2-BD59-A6C34878D82A}">
                    <a16:rowId xmlns:a16="http://schemas.microsoft.com/office/drawing/2014/main" val="2703508496"/>
                  </a:ext>
                </a:extLst>
              </a:tr>
              <a:tr h="288744">
                <a:tc>
                  <a:txBody>
                    <a:bodyPr/>
                    <a:lstStyle/>
                    <a:p>
                      <a:r>
                        <a:rPr lang="en-US" sz="1800" b="0" dirty="0">
                          <a:solidFill>
                            <a:schemeClr val="tx1"/>
                          </a:solidFill>
                          <a:latin typeface="+mn-lt"/>
                          <a:ea typeface="Museo Moderno Medium"/>
                          <a:cs typeface="Museo Moderno Medium"/>
                          <a:sym typeface="Museo Moderno Medium"/>
                        </a:rPr>
                        <a:t>Tablet</a:t>
                      </a:r>
                      <a:endParaRPr lang="en-US" b="0" dirty="0">
                        <a:solidFill>
                          <a:schemeClr val="tx1"/>
                        </a:solidFill>
                        <a:latin typeface="+mn-lt"/>
                      </a:endParaRPr>
                    </a:p>
                  </a:txBody>
                  <a:tcPr>
                    <a:solidFill>
                      <a:schemeClr val="accent5">
                        <a:lumMod val="75000"/>
                      </a:schemeClr>
                    </a:solidFill>
                  </a:tcPr>
                </a:tc>
                <a:tc>
                  <a:txBody>
                    <a:bodyPr/>
                    <a:lstStyle/>
                    <a:p>
                      <a:r>
                        <a:rPr lang="en-US" dirty="0"/>
                        <a:t>179</a:t>
                      </a:r>
                    </a:p>
                  </a:txBody>
                  <a:tcPr>
                    <a:solidFill>
                      <a:schemeClr val="accent5">
                        <a:lumMod val="75000"/>
                      </a:schemeClr>
                    </a:solidFill>
                  </a:tcPr>
                </a:tc>
                <a:tc>
                  <a:txBody>
                    <a:bodyPr/>
                    <a:lstStyle/>
                    <a:p>
                      <a:r>
                        <a:rPr lang="en-US" dirty="0"/>
                        <a:t>14.92%</a:t>
                      </a:r>
                    </a:p>
                  </a:txBody>
                  <a:tcPr>
                    <a:solidFill>
                      <a:schemeClr val="accent5">
                        <a:lumMod val="75000"/>
                      </a:schemeClr>
                    </a:solidFill>
                  </a:tcPr>
                </a:tc>
                <a:extLst>
                  <a:ext uri="{0D108BD9-81ED-4DB2-BD59-A6C34878D82A}">
                    <a16:rowId xmlns:a16="http://schemas.microsoft.com/office/drawing/2014/main" val="3538771981"/>
                  </a:ext>
                </a:extLst>
              </a:tr>
              <a:tr h="288744">
                <a:tc>
                  <a:txBody>
                    <a:bodyPr/>
                    <a:lstStyle/>
                    <a:p>
                      <a:r>
                        <a:rPr lang="en-US" sz="1800" b="0" dirty="0">
                          <a:solidFill>
                            <a:schemeClr val="tx1"/>
                          </a:solidFill>
                          <a:latin typeface="+mn-lt"/>
                          <a:ea typeface="Museo Moderno Medium"/>
                          <a:cs typeface="Museo Moderno Medium"/>
                          <a:sym typeface="Museo Moderno Medium"/>
                        </a:rPr>
                        <a:t>Chair</a:t>
                      </a:r>
                      <a:endParaRPr lang="en-US" b="0" dirty="0">
                        <a:solidFill>
                          <a:schemeClr val="tx1"/>
                        </a:solidFill>
                        <a:latin typeface="+mn-lt"/>
                      </a:endParaRPr>
                    </a:p>
                  </a:txBody>
                  <a:tcPr>
                    <a:solidFill>
                      <a:schemeClr val="accent5">
                        <a:lumMod val="75000"/>
                      </a:schemeClr>
                    </a:solidFill>
                  </a:tcPr>
                </a:tc>
                <a:tc>
                  <a:txBody>
                    <a:bodyPr/>
                    <a:lstStyle/>
                    <a:p>
                      <a:r>
                        <a:rPr lang="en-US" dirty="0"/>
                        <a:t>178</a:t>
                      </a:r>
                    </a:p>
                  </a:txBody>
                  <a:tcPr>
                    <a:solidFill>
                      <a:schemeClr val="accent5">
                        <a:lumMod val="75000"/>
                      </a:schemeClr>
                    </a:solidFill>
                  </a:tcPr>
                </a:tc>
                <a:tc>
                  <a:txBody>
                    <a:bodyPr/>
                    <a:lstStyle/>
                    <a:p>
                      <a:r>
                        <a:rPr lang="en-US" dirty="0"/>
                        <a:t>14.83%</a:t>
                      </a:r>
                    </a:p>
                  </a:txBody>
                  <a:tcPr>
                    <a:solidFill>
                      <a:schemeClr val="accent5">
                        <a:lumMod val="75000"/>
                      </a:schemeClr>
                    </a:solidFill>
                  </a:tcPr>
                </a:tc>
                <a:extLst>
                  <a:ext uri="{0D108BD9-81ED-4DB2-BD59-A6C34878D82A}">
                    <a16:rowId xmlns:a16="http://schemas.microsoft.com/office/drawing/2014/main" val="3281359900"/>
                  </a:ext>
                </a:extLst>
              </a:tr>
              <a:tr h="288744">
                <a:tc>
                  <a:txBody>
                    <a:bodyPr/>
                    <a:lstStyle/>
                    <a:p>
                      <a:r>
                        <a:rPr lang="en-US" sz="1800" b="0" dirty="0">
                          <a:solidFill>
                            <a:schemeClr val="tx1"/>
                          </a:solidFill>
                          <a:latin typeface="+mn-lt"/>
                          <a:ea typeface="Museo Moderno Medium"/>
                          <a:cs typeface="Museo Moderno Medium"/>
                          <a:sym typeface="Museo Moderno Medium"/>
                        </a:rPr>
                        <a:t>Laptop</a:t>
                      </a:r>
                      <a:endParaRPr lang="en-US" b="0" dirty="0">
                        <a:solidFill>
                          <a:schemeClr val="tx1"/>
                        </a:solidFill>
                        <a:latin typeface="+mn-lt"/>
                      </a:endParaRPr>
                    </a:p>
                  </a:txBody>
                  <a:tcPr>
                    <a:solidFill>
                      <a:schemeClr val="accent5">
                        <a:lumMod val="75000"/>
                      </a:schemeClr>
                    </a:solidFill>
                  </a:tcPr>
                </a:tc>
                <a:tc>
                  <a:txBody>
                    <a:bodyPr/>
                    <a:lstStyle/>
                    <a:p>
                      <a:r>
                        <a:rPr lang="en-US" dirty="0"/>
                        <a:t>173</a:t>
                      </a:r>
                    </a:p>
                  </a:txBody>
                  <a:tcPr>
                    <a:solidFill>
                      <a:schemeClr val="accent5">
                        <a:lumMod val="75000"/>
                      </a:schemeClr>
                    </a:solidFill>
                  </a:tcPr>
                </a:tc>
                <a:tc>
                  <a:txBody>
                    <a:bodyPr/>
                    <a:lstStyle/>
                    <a:p>
                      <a:r>
                        <a:rPr lang="en-US" dirty="0"/>
                        <a:t>14.42%</a:t>
                      </a:r>
                    </a:p>
                  </a:txBody>
                  <a:tcPr>
                    <a:solidFill>
                      <a:schemeClr val="accent5">
                        <a:lumMod val="75000"/>
                      </a:schemeClr>
                    </a:solidFill>
                  </a:tcPr>
                </a:tc>
                <a:extLst>
                  <a:ext uri="{0D108BD9-81ED-4DB2-BD59-A6C34878D82A}">
                    <a16:rowId xmlns:a16="http://schemas.microsoft.com/office/drawing/2014/main" val="4202829777"/>
                  </a:ext>
                </a:extLst>
              </a:tr>
              <a:tr h="288744">
                <a:tc>
                  <a:txBody>
                    <a:bodyPr/>
                    <a:lstStyle/>
                    <a:p>
                      <a:r>
                        <a:rPr lang="en-US" sz="1800" b="0" dirty="0">
                          <a:solidFill>
                            <a:schemeClr val="tx1"/>
                          </a:solidFill>
                          <a:latin typeface="+mn-lt"/>
                          <a:ea typeface="Museo Moderno Medium"/>
                          <a:cs typeface="Museo Moderno Medium"/>
                          <a:sym typeface="Museo Moderno Medium"/>
                        </a:rPr>
                        <a:t>Desk</a:t>
                      </a:r>
                      <a:endParaRPr lang="en-US" b="0" dirty="0">
                        <a:solidFill>
                          <a:schemeClr val="tx1"/>
                        </a:solidFill>
                        <a:latin typeface="+mn-lt"/>
                      </a:endParaRPr>
                    </a:p>
                  </a:txBody>
                  <a:tcPr>
                    <a:solidFill>
                      <a:schemeClr val="accent5">
                        <a:lumMod val="75000"/>
                      </a:schemeClr>
                    </a:solidFill>
                  </a:tcPr>
                </a:tc>
                <a:tc>
                  <a:txBody>
                    <a:bodyPr/>
                    <a:lstStyle/>
                    <a:p>
                      <a:r>
                        <a:rPr lang="en-US" dirty="0"/>
                        <a:t>170</a:t>
                      </a:r>
                    </a:p>
                  </a:txBody>
                  <a:tcPr>
                    <a:solidFill>
                      <a:schemeClr val="accent5">
                        <a:lumMod val="75000"/>
                      </a:schemeClr>
                    </a:solidFill>
                  </a:tcPr>
                </a:tc>
                <a:tc>
                  <a:txBody>
                    <a:bodyPr/>
                    <a:lstStyle/>
                    <a:p>
                      <a:r>
                        <a:rPr lang="en-US" dirty="0"/>
                        <a:t>14.17%</a:t>
                      </a:r>
                    </a:p>
                  </a:txBody>
                  <a:tcPr>
                    <a:solidFill>
                      <a:schemeClr val="accent5">
                        <a:lumMod val="75000"/>
                      </a:schemeClr>
                    </a:solidFill>
                  </a:tcPr>
                </a:tc>
                <a:extLst>
                  <a:ext uri="{0D108BD9-81ED-4DB2-BD59-A6C34878D82A}">
                    <a16:rowId xmlns:a16="http://schemas.microsoft.com/office/drawing/2014/main" val="1432079713"/>
                  </a:ext>
                </a:extLst>
              </a:tr>
              <a:tr h="288744">
                <a:tc>
                  <a:txBody>
                    <a:bodyPr/>
                    <a:lstStyle/>
                    <a:p>
                      <a:r>
                        <a:rPr lang="en-US" sz="1800" b="0" dirty="0">
                          <a:solidFill>
                            <a:schemeClr val="tx1"/>
                          </a:solidFill>
                          <a:latin typeface="+mn-lt"/>
                          <a:ea typeface="Museo Moderno Medium"/>
                          <a:cs typeface="Museo Moderno Medium"/>
                          <a:sym typeface="Museo Moderno Medium"/>
                        </a:rPr>
                        <a:t>Monitor</a:t>
                      </a:r>
                      <a:endParaRPr lang="en-US" b="0" dirty="0">
                        <a:solidFill>
                          <a:schemeClr val="tx1"/>
                        </a:solidFill>
                        <a:latin typeface="+mn-lt"/>
                      </a:endParaRPr>
                    </a:p>
                  </a:txBody>
                  <a:tcPr>
                    <a:solidFill>
                      <a:schemeClr val="accent5">
                        <a:lumMod val="75000"/>
                      </a:schemeClr>
                    </a:solidFill>
                  </a:tcPr>
                </a:tc>
                <a:tc>
                  <a:txBody>
                    <a:bodyPr/>
                    <a:lstStyle/>
                    <a:p>
                      <a:r>
                        <a:rPr lang="en-US" dirty="0"/>
                        <a:t>163</a:t>
                      </a:r>
                    </a:p>
                  </a:txBody>
                  <a:tcPr>
                    <a:solidFill>
                      <a:schemeClr val="accent5">
                        <a:lumMod val="75000"/>
                      </a:schemeClr>
                    </a:solidFill>
                  </a:tcPr>
                </a:tc>
                <a:tc>
                  <a:txBody>
                    <a:bodyPr/>
                    <a:lstStyle/>
                    <a:p>
                      <a:r>
                        <a:rPr lang="en-US" dirty="0"/>
                        <a:t>13.58%</a:t>
                      </a:r>
                    </a:p>
                  </a:txBody>
                  <a:tcPr>
                    <a:solidFill>
                      <a:schemeClr val="accent5">
                        <a:lumMod val="75000"/>
                      </a:schemeClr>
                    </a:solidFill>
                  </a:tcPr>
                </a:tc>
                <a:extLst>
                  <a:ext uri="{0D108BD9-81ED-4DB2-BD59-A6C34878D82A}">
                    <a16:rowId xmlns:a16="http://schemas.microsoft.com/office/drawing/2014/main" val="3432180310"/>
                  </a:ext>
                </a:extLst>
              </a:tr>
              <a:tr h="288744">
                <a:tc>
                  <a:txBody>
                    <a:bodyPr/>
                    <a:lstStyle/>
                    <a:p>
                      <a:r>
                        <a:rPr lang="en-US" b="0" dirty="0">
                          <a:solidFill>
                            <a:schemeClr val="tx1"/>
                          </a:solidFill>
                          <a:latin typeface="+mn-lt"/>
                        </a:rPr>
                        <a:t>Phone</a:t>
                      </a:r>
                    </a:p>
                  </a:txBody>
                  <a:tcPr>
                    <a:solidFill>
                      <a:schemeClr val="accent5">
                        <a:lumMod val="75000"/>
                      </a:schemeClr>
                    </a:solidFill>
                  </a:tcPr>
                </a:tc>
                <a:tc>
                  <a:txBody>
                    <a:bodyPr/>
                    <a:lstStyle/>
                    <a:p>
                      <a:r>
                        <a:rPr lang="en-US" dirty="0"/>
                        <a:t>156</a:t>
                      </a:r>
                    </a:p>
                  </a:txBody>
                  <a:tcPr>
                    <a:solidFill>
                      <a:schemeClr val="accent5">
                        <a:lumMod val="75000"/>
                      </a:schemeClr>
                    </a:solidFill>
                  </a:tcPr>
                </a:tc>
                <a:tc>
                  <a:txBody>
                    <a:bodyPr/>
                    <a:lstStyle/>
                    <a:p>
                      <a:r>
                        <a:rPr lang="en-US" dirty="0"/>
                        <a:t>13%</a:t>
                      </a:r>
                    </a:p>
                  </a:txBody>
                  <a:tcPr>
                    <a:solidFill>
                      <a:schemeClr val="accent5">
                        <a:lumMod val="75000"/>
                      </a:schemeClr>
                    </a:solidFill>
                  </a:tcPr>
                </a:tc>
                <a:extLst>
                  <a:ext uri="{0D108BD9-81ED-4DB2-BD59-A6C34878D82A}">
                    <a16:rowId xmlns:a16="http://schemas.microsoft.com/office/drawing/2014/main" val="3149597842"/>
                  </a:ext>
                </a:extLst>
              </a:tr>
            </a:tbl>
          </a:graphicData>
        </a:graphic>
      </p:graphicFrame>
      <p:graphicFrame>
        <p:nvGraphicFramePr>
          <p:cNvPr id="8" name="Table 7">
            <a:extLst>
              <a:ext uri="{FF2B5EF4-FFF2-40B4-BE49-F238E27FC236}">
                <a16:creationId xmlns:a16="http://schemas.microsoft.com/office/drawing/2014/main" id="{A3F50189-520E-E6BD-9F6C-DF8100B535A7}"/>
              </a:ext>
            </a:extLst>
          </p:cNvPr>
          <p:cNvGraphicFramePr>
            <a:graphicFrameLocks noGrp="1"/>
          </p:cNvGraphicFramePr>
          <p:nvPr>
            <p:extLst>
              <p:ext uri="{D42A27DB-BD31-4B8C-83A1-F6EECF244321}">
                <p14:modId xmlns:p14="http://schemas.microsoft.com/office/powerpoint/2010/main" val="2790913369"/>
              </p:ext>
            </p:extLst>
          </p:nvPr>
        </p:nvGraphicFramePr>
        <p:xfrm>
          <a:off x="8128000" y="912951"/>
          <a:ext cx="7605486" cy="2926080"/>
        </p:xfrm>
        <a:graphic>
          <a:graphicData uri="http://schemas.openxmlformats.org/drawingml/2006/table">
            <a:tbl>
              <a:tblPr firstRow="1" bandRow="1">
                <a:tableStyleId>{5C22544A-7EE6-4342-B048-85BDC9FD1C3A}</a:tableStyleId>
              </a:tblPr>
              <a:tblGrid>
                <a:gridCol w="2535162">
                  <a:extLst>
                    <a:ext uri="{9D8B030D-6E8A-4147-A177-3AD203B41FA5}">
                      <a16:colId xmlns:a16="http://schemas.microsoft.com/office/drawing/2014/main" val="3046047931"/>
                    </a:ext>
                  </a:extLst>
                </a:gridCol>
                <a:gridCol w="2535162">
                  <a:extLst>
                    <a:ext uri="{9D8B030D-6E8A-4147-A177-3AD203B41FA5}">
                      <a16:colId xmlns:a16="http://schemas.microsoft.com/office/drawing/2014/main" val="361065333"/>
                    </a:ext>
                  </a:extLst>
                </a:gridCol>
                <a:gridCol w="2535162">
                  <a:extLst>
                    <a:ext uri="{9D8B030D-6E8A-4147-A177-3AD203B41FA5}">
                      <a16:colId xmlns:a16="http://schemas.microsoft.com/office/drawing/2014/main" val="51396947"/>
                    </a:ext>
                  </a:extLst>
                </a:gridCol>
              </a:tblGrid>
              <a:tr h="487680">
                <a:tc>
                  <a:txBody>
                    <a:bodyPr/>
                    <a:lstStyle/>
                    <a:p>
                      <a:r>
                        <a:rPr lang="en-US" sz="1800" b="1" dirty="0">
                          <a:solidFill>
                            <a:schemeClr val="bg1"/>
                          </a:solidFill>
                          <a:latin typeface="+mn-lt"/>
                          <a:cs typeface="Museo Moderno Medium"/>
                          <a:sym typeface="Museo Moderno Medium"/>
                        </a:rPr>
                        <a:t>Payment method</a:t>
                      </a:r>
                      <a:endParaRPr lang="en-US" dirty="0">
                        <a:solidFill>
                          <a:schemeClr val="bg1"/>
                        </a:solidFill>
                        <a:latin typeface="+mn-lt"/>
                      </a:endParaRPr>
                    </a:p>
                  </a:txBody>
                  <a:tcPr>
                    <a:solidFill>
                      <a:schemeClr val="accent5">
                        <a:lumMod val="75000"/>
                      </a:schemeClr>
                    </a:solidFill>
                  </a:tcPr>
                </a:tc>
                <a:tc>
                  <a:txBody>
                    <a:bodyPr/>
                    <a:lstStyle/>
                    <a:p>
                      <a:r>
                        <a:rPr lang="en-US" sz="1800" b="1" dirty="0">
                          <a:solidFill>
                            <a:schemeClr val="bg1"/>
                          </a:solidFill>
                          <a:latin typeface="+mn-lt"/>
                          <a:ea typeface="Museo Moderno Medium"/>
                          <a:cs typeface="Museo Moderno Medium"/>
                          <a:sym typeface="Museo Moderno Medium"/>
                        </a:rPr>
                        <a:t>Frequency</a:t>
                      </a:r>
                      <a:endParaRPr lang="en-US" dirty="0">
                        <a:solidFill>
                          <a:schemeClr val="bg1"/>
                        </a:solidFill>
                        <a:latin typeface="+mn-lt"/>
                      </a:endParaRPr>
                    </a:p>
                  </a:txBody>
                  <a:tcPr>
                    <a:solidFill>
                      <a:schemeClr val="accent5">
                        <a:lumMod val="75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b="1" dirty="0">
                          <a:solidFill>
                            <a:schemeClr val="bg1"/>
                          </a:solidFill>
                          <a:latin typeface="+mn-lt"/>
                          <a:ea typeface="Museo Moderno Medium"/>
                          <a:cs typeface="Museo Moderno Medium"/>
                          <a:sym typeface="Museo Moderno Medium"/>
                        </a:rPr>
                        <a:t>Relative Frequency</a:t>
                      </a:r>
                      <a:endParaRPr lang="en-US" dirty="0">
                        <a:solidFill>
                          <a:schemeClr val="bg1"/>
                        </a:solidFill>
                        <a:latin typeface="+mn-lt"/>
                      </a:endParaRPr>
                    </a:p>
                  </a:txBody>
                  <a:tcPr>
                    <a:solidFill>
                      <a:schemeClr val="accent5">
                        <a:lumMod val="75000"/>
                      </a:schemeClr>
                    </a:solidFill>
                  </a:tcPr>
                </a:tc>
                <a:extLst>
                  <a:ext uri="{0D108BD9-81ED-4DB2-BD59-A6C34878D82A}">
                    <a16:rowId xmlns:a16="http://schemas.microsoft.com/office/drawing/2014/main" val="2242364299"/>
                  </a:ext>
                </a:extLst>
              </a:tr>
              <a:tr h="487680">
                <a:tc>
                  <a:txBody>
                    <a:bodyPr/>
                    <a:lstStyle/>
                    <a:p>
                      <a:r>
                        <a:rPr lang="en-US" b="0" dirty="0">
                          <a:solidFill>
                            <a:schemeClr val="tx1"/>
                          </a:solidFill>
                          <a:latin typeface="+mn-lt"/>
                        </a:rPr>
                        <a:t>Online</a:t>
                      </a:r>
                    </a:p>
                  </a:txBody>
                  <a:tcPr>
                    <a:solidFill>
                      <a:schemeClr val="accent5">
                        <a:lumMod val="75000"/>
                      </a:schemeClr>
                    </a:solidFill>
                  </a:tcPr>
                </a:tc>
                <a:tc>
                  <a:txBody>
                    <a:bodyPr/>
                    <a:lstStyle/>
                    <a:p>
                      <a:r>
                        <a:rPr lang="en-US" dirty="0"/>
                        <a:t>258</a:t>
                      </a:r>
                    </a:p>
                  </a:txBody>
                  <a:tcPr>
                    <a:solidFill>
                      <a:schemeClr val="accent5">
                        <a:lumMod val="75000"/>
                      </a:schemeClr>
                    </a:solidFill>
                  </a:tcPr>
                </a:tc>
                <a:tc>
                  <a:txBody>
                    <a:bodyPr/>
                    <a:lstStyle/>
                    <a:p>
                      <a:r>
                        <a:rPr lang="en-US" dirty="0"/>
                        <a:t>21.5%</a:t>
                      </a:r>
                    </a:p>
                  </a:txBody>
                  <a:tcPr>
                    <a:solidFill>
                      <a:schemeClr val="accent5">
                        <a:lumMod val="75000"/>
                      </a:schemeClr>
                    </a:solidFill>
                  </a:tcPr>
                </a:tc>
                <a:extLst>
                  <a:ext uri="{0D108BD9-81ED-4DB2-BD59-A6C34878D82A}">
                    <a16:rowId xmlns:a16="http://schemas.microsoft.com/office/drawing/2014/main" val="2703508496"/>
                  </a:ext>
                </a:extLst>
              </a:tr>
              <a:tr h="487680">
                <a:tc>
                  <a:txBody>
                    <a:bodyPr/>
                    <a:lstStyle/>
                    <a:p>
                      <a:r>
                        <a:rPr lang="en-US" b="0" dirty="0">
                          <a:solidFill>
                            <a:schemeClr val="tx1"/>
                          </a:solidFill>
                          <a:latin typeface="+mn-lt"/>
                        </a:rPr>
                        <a:t>Cash</a:t>
                      </a:r>
                    </a:p>
                  </a:txBody>
                  <a:tcPr>
                    <a:solidFill>
                      <a:schemeClr val="accent5">
                        <a:lumMod val="75000"/>
                      </a:schemeClr>
                    </a:solidFill>
                  </a:tcPr>
                </a:tc>
                <a:tc>
                  <a:txBody>
                    <a:bodyPr/>
                    <a:lstStyle/>
                    <a:p>
                      <a:r>
                        <a:rPr lang="en-US" dirty="0"/>
                        <a:t>246</a:t>
                      </a:r>
                    </a:p>
                  </a:txBody>
                  <a:tcPr>
                    <a:solidFill>
                      <a:schemeClr val="accent5">
                        <a:lumMod val="75000"/>
                      </a:schemeClr>
                    </a:solidFill>
                  </a:tcPr>
                </a:tc>
                <a:tc>
                  <a:txBody>
                    <a:bodyPr/>
                    <a:lstStyle/>
                    <a:p>
                      <a:r>
                        <a:rPr lang="en-US" dirty="0"/>
                        <a:t>20.5%</a:t>
                      </a:r>
                    </a:p>
                  </a:txBody>
                  <a:tcPr>
                    <a:solidFill>
                      <a:schemeClr val="accent5">
                        <a:lumMod val="75000"/>
                      </a:schemeClr>
                    </a:solidFill>
                  </a:tcPr>
                </a:tc>
                <a:extLst>
                  <a:ext uri="{0D108BD9-81ED-4DB2-BD59-A6C34878D82A}">
                    <a16:rowId xmlns:a16="http://schemas.microsoft.com/office/drawing/2014/main" val="3538771981"/>
                  </a:ext>
                </a:extLst>
              </a:tr>
              <a:tr h="487680">
                <a:tc>
                  <a:txBody>
                    <a:bodyPr/>
                    <a:lstStyle/>
                    <a:p>
                      <a:r>
                        <a:rPr lang="en-US" b="0" dirty="0">
                          <a:solidFill>
                            <a:schemeClr val="tx1"/>
                          </a:solidFill>
                          <a:latin typeface="+mn-lt"/>
                        </a:rPr>
                        <a:t>Credit card</a:t>
                      </a:r>
                    </a:p>
                  </a:txBody>
                  <a:tcPr>
                    <a:solidFill>
                      <a:schemeClr val="accent5">
                        <a:lumMod val="75000"/>
                      </a:schemeClr>
                    </a:solidFill>
                  </a:tcPr>
                </a:tc>
                <a:tc>
                  <a:txBody>
                    <a:bodyPr/>
                    <a:lstStyle/>
                    <a:p>
                      <a:r>
                        <a:rPr lang="en-US" dirty="0"/>
                        <a:t>234</a:t>
                      </a:r>
                    </a:p>
                  </a:txBody>
                  <a:tcPr>
                    <a:solidFill>
                      <a:schemeClr val="accent5">
                        <a:lumMod val="75000"/>
                      </a:schemeClr>
                    </a:solidFill>
                  </a:tcPr>
                </a:tc>
                <a:tc>
                  <a:txBody>
                    <a:bodyPr/>
                    <a:lstStyle/>
                    <a:p>
                      <a:r>
                        <a:rPr lang="en-US" dirty="0"/>
                        <a:t>19.5%</a:t>
                      </a:r>
                    </a:p>
                  </a:txBody>
                  <a:tcPr>
                    <a:solidFill>
                      <a:schemeClr val="accent5">
                        <a:lumMod val="75000"/>
                      </a:schemeClr>
                    </a:solidFill>
                  </a:tcPr>
                </a:tc>
                <a:extLst>
                  <a:ext uri="{0D108BD9-81ED-4DB2-BD59-A6C34878D82A}">
                    <a16:rowId xmlns:a16="http://schemas.microsoft.com/office/drawing/2014/main" val="3281359900"/>
                  </a:ext>
                </a:extLst>
              </a:tr>
              <a:tr h="487680">
                <a:tc>
                  <a:txBody>
                    <a:bodyPr/>
                    <a:lstStyle/>
                    <a:p>
                      <a:r>
                        <a:rPr lang="en-US" b="0" dirty="0">
                          <a:solidFill>
                            <a:schemeClr val="tx1"/>
                          </a:solidFill>
                          <a:latin typeface="+mn-lt"/>
                        </a:rPr>
                        <a:t>Debit card</a:t>
                      </a:r>
                    </a:p>
                  </a:txBody>
                  <a:tcPr>
                    <a:solidFill>
                      <a:schemeClr val="accent5">
                        <a:lumMod val="75000"/>
                      </a:schemeClr>
                    </a:solidFill>
                  </a:tcPr>
                </a:tc>
                <a:tc>
                  <a:txBody>
                    <a:bodyPr/>
                    <a:lstStyle/>
                    <a:p>
                      <a:r>
                        <a:rPr lang="en-US" dirty="0"/>
                        <a:t>232</a:t>
                      </a:r>
                    </a:p>
                  </a:txBody>
                  <a:tcPr>
                    <a:solidFill>
                      <a:schemeClr val="accent5">
                        <a:lumMod val="75000"/>
                      </a:schemeClr>
                    </a:solidFill>
                  </a:tcPr>
                </a:tc>
                <a:tc>
                  <a:txBody>
                    <a:bodyPr/>
                    <a:lstStyle/>
                    <a:p>
                      <a:r>
                        <a:rPr lang="en-US" dirty="0"/>
                        <a:t>19.33%</a:t>
                      </a:r>
                    </a:p>
                  </a:txBody>
                  <a:tcPr>
                    <a:solidFill>
                      <a:schemeClr val="accent5">
                        <a:lumMod val="75000"/>
                      </a:schemeClr>
                    </a:solidFill>
                  </a:tcPr>
                </a:tc>
                <a:extLst>
                  <a:ext uri="{0D108BD9-81ED-4DB2-BD59-A6C34878D82A}">
                    <a16:rowId xmlns:a16="http://schemas.microsoft.com/office/drawing/2014/main" val="4202829777"/>
                  </a:ext>
                </a:extLst>
              </a:tr>
              <a:tr h="487680">
                <a:tc>
                  <a:txBody>
                    <a:bodyPr/>
                    <a:lstStyle/>
                    <a:p>
                      <a:r>
                        <a:rPr lang="en-US" b="0" dirty="0">
                          <a:solidFill>
                            <a:schemeClr val="tx1"/>
                          </a:solidFill>
                          <a:latin typeface="+mn-lt"/>
                        </a:rPr>
                        <a:t>Gift card</a:t>
                      </a:r>
                    </a:p>
                  </a:txBody>
                  <a:tcPr>
                    <a:solidFill>
                      <a:schemeClr val="accent5">
                        <a:lumMod val="75000"/>
                      </a:schemeClr>
                    </a:solidFill>
                  </a:tcPr>
                </a:tc>
                <a:tc>
                  <a:txBody>
                    <a:bodyPr/>
                    <a:lstStyle/>
                    <a:p>
                      <a:r>
                        <a:rPr lang="en-US" dirty="0"/>
                        <a:t>230</a:t>
                      </a:r>
                    </a:p>
                  </a:txBody>
                  <a:tcPr>
                    <a:solidFill>
                      <a:schemeClr val="accent5">
                        <a:lumMod val="75000"/>
                      </a:schemeClr>
                    </a:solidFill>
                  </a:tcPr>
                </a:tc>
                <a:tc>
                  <a:txBody>
                    <a:bodyPr/>
                    <a:lstStyle/>
                    <a:p>
                      <a:r>
                        <a:rPr lang="en-US" dirty="0"/>
                        <a:t>19.17%</a:t>
                      </a:r>
                    </a:p>
                  </a:txBody>
                  <a:tcPr>
                    <a:solidFill>
                      <a:schemeClr val="accent5">
                        <a:lumMod val="75000"/>
                      </a:schemeClr>
                    </a:solidFill>
                  </a:tcPr>
                </a:tc>
                <a:extLst>
                  <a:ext uri="{0D108BD9-81ED-4DB2-BD59-A6C34878D82A}">
                    <a16:rowId xmlns:a16="http://schemas.microsoft.com/office/drawing/2014/main" val="1432079713"/>
                  </a:ext>
                </a:extLst>
              </a:tr>
            </a:tbl>
          </a:graphicData>
        </a:graphic>
      </p:graphicFrame>
      <p:graphicFrame>
        <p:nvGraphicFramePr>
          <p:cNvPr id="9" name="Table 8">
            <a:extLst>
              <a:ext uri="{FF2B5EF4-FFF2-40B4-BE49-F238E27FC236}">
                <a16:creationId xmlns:a16="http://schemas.microsoft.com/office/drawing/2014/main" id="{92623A9A-4D05-D7EB-B8AC-A1B42C581062}"/>
              </a:ext>
            </a:extLst>
          </p:cNvPr>
          <p:cNvGraphicFramePr>
            <a:graphicFrameLocks noGrp="1"/>
          </p:cNvGraphicFramePr>
          <p:nvPr>
            <p:extLst>
              <p:ext uri="{D42A27DB-BD31-4B8C-83A1-F6EECF244321}">
                <p14:modId xmlns:p14="http://schemas.microsoft.com/office/powerpoint/2010/main" val="1828219338"/>
              </p:ext>
            </p:extLst>
          </p:nvPr>
        </p:nvGraphicFramePr>
        <p:xfrm>
          <a:off x="275771" y="3954421"/>
          <a:ext cx="7605486" cy="2194560"/>
        </p:xfrm>
        <a:graphic>
          <a:graphicData uri="http://schemas.openxmlformats.org/drawingml/2006/table">
            <a:tbl>
              <a:tblPr firstRow="1" bandRow="1">
                <a:tableStyleId>{5C22544A-7EE6-4342-B048-85BDC9FD1C3A}</a:tableStyleId>
              </a:tblPr>
              <a:tblGrid>
                <a:gridCol w="2535162">
                  <a:extLst>
                    <a:ext uri="{9D8B030D-6E8A-4147-A177-3AD203B41FA5}">
                      <a16:colId xmlns:a16="http://schemas.microsoft.com/office/drawing/2014/main" val="3046047931"/>
                    </a:ext>
                  </a:extLst>
                </a:gridCol>
                <a:gridCol w="2535162">
                  <a:extLst>
                    <a:ext uri="{9D8B030D-6E8A-4147-A177-3AD203B41FA5}">
                      <a16:colId xmlns:a16="http://schemas.microsoft.com/office/drawing/2014/main" val="361065333"/>
                    </a:ext>
                  </a:extLst>
                </a:gridCol>
                <a:gridCol w="2535162">
                  <a:extLst>
                    <a:ext uri="{9D8B030D-6E8A-4147-A177-3AD203B41FA5}">
                      <a16:colId xmlns:a16="http://schemas.microsoft.com/office/drawing/2014/main" val="51396947"/>
                    </a:ext>
                  </a:extLst>
                </a:gridCol>
              </a:tblGrid>
              <a:tr h="304800">
                <a:tc>
                  <a:txBody>
                    <a:bodyPr/>
                    <a:lstStyle/>
                    <a:p>
                      <a:r>
                        <a:rPr lang="en-US" sz="1800" b="1" dirty="0">
                          <a:solidFill>
                            <a:schemeClr val="bg1"/>
                          </a:solidFill>
                          <a:latin typeface="+mn-lt"/>
                          <a:cs typeface="Museo Moderno Medium"/>
                          <a:sym typeface="Museo Moderno Medium"/>
                        </a:rPr>
                        <a:t>Order status</a:t>
                      </a:r>
                      <a:endParaRPr lang="en-US" dirty="0">
                        <a:solidFill>
                          <a:schemeClr val="bg1"/>
                        </a:solidFill>
                        <a:latin typeface="+mn-lt"/>
                      </a:endParaRPr>
                    </a:p>
                  </a:txBody>
                  <a:tcPr>
                    <a:solidFill>
                      <a:schemeClr val="accent5">
                        <a:lumMod val="75000"/>
                      </a:schemeClr>
                    </a:solidFill>
                  </a:tcPr>
                </a:tc>
                <a:tc>
                  <a:txBody>
                    <a:bodyPr/>
                    <a:lstStyle/>
                    <a:p>
                      <a:r>
                        <a:rPr lang="en-US" sz="1800" b="1" dirty="0">
                          <a:solidFill>
                            <a:schemeClr val="bg1"/>
                          </a:solidFill>
                          <a:latin typeface="+mn-lt"/>
                          <a:ea typeface="Museo Moderno Medium"/>
                          <a:cs typeface="Museo Moderno Medium"/>
                          <a:sym typeface="Museo Moderno Medium"/>
                        </a:rPr>
                        <a:t>Frequency</a:t>
                      </a:r>
                      <a:endParaRPr lang="en-US" dirty="0">
                        <a:solidFill>
                          <a:schemeClr val="bg1"/>
                        </a:solidFill>
                        <a:latin typeface="+mn-lt"/>
                      </a:endParaRPr>
                    </a:p>
                  </a:txBody>
                  <a:tcPr>
                    <a:solidFill>
                      <a:schemeClr val="accent5">
                        <a:lumMod val="75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b="1" dirty="0">
                          <a:solidFill>
                            <a:schemeClr val="bg1"/>
                          </a:solidFill>
                          <a:latin typeface="+mn-lt"/>
                          <a:ea typeface="Museo Moderno Medium"/>
                          <a:cs typeface="Museo Moderno Medium"/>
                          <a:sym typeface="Museo Moderno Medium"/>
                        </a:rPr>
                        <a:t>Relative Frequency</a:t>
                      </a:r>
                      <a:endParaRPr lang="en-US" dirty="0">
                        <a:solidFill>
                          <a:schemeClr val="bg1"/>
                        </a:solidFill>
                        <a:latin typeface="+mn-lt"/>
                      </a:endParaRPr>
                    </a:p>
                  </a:txBody>
                  <a:tcPr>
                    <a:solidFill>
                      <a:schemeClr val="accent5">
                        <a:lumMod val="75000"/>
                      </a:schemeClr>
                    </a:solidFill>
                  </a:tcPr>
                </a:tc>
                <a:extLst>
                  <a:ext uri="{0D108BD9-81ED-4DB2-BD59-A6C34878D82A}">
                    <a16:rowId xmlns:a16="http://schemas.microsoft.com/office/drawing/2014/main" val="2242364299"/>
                  </a:ext>
                </a:extLst>
              </a:tr>
              <a:tr h="304800">
                <a:tc>
                  <a:txBody>
                    <a:bodyPr/>
                    <a:lstStyle/>
                    <a:p>
                      <a:r>
                        <a:rPr lang="en-US" b="0" dirty="0">
                          <a:solidFill>
                            <a:schemeClr val="tx1"/>
                          </a:solidFill>
                          <a:latin typeface="+mn-lt"/>
                        </a:rPr>
                        <a:t>Cancelled</a:t>
                      </a:r>
                    </a:p>
                  </a:txBody>
                  <a:tcPr>
                    <a:solidFill>
                      <a:schemeClr val="accent5">
                        <a:lumMod val="75000"/>
                      </a:schemeClr>
                    </a:solidFill>
                  </a:tcPr>
                </a:tc>
                <a:tc>
                  <a:txBody>
                    <a:bodyPr/>
                    <a:lstStyle/>
                    <a:p>
                      <a:r>
                        <a:rPr lang="en-US" dirty="0"/>
                        <a:t>250</a:t>
                      </a:r>
                    </a:p>
                  </a:txBody>
                  <a:tcPr>
                    <a:solidFill>
                      <a:schemeClr val="accent5">
                        <a:lumMod val="75000"/>
                      </a:schemeClr>
                    </a:solidFill>
                  </a:tcPr>
                </a:tc>
                <a:tc>
                  <a:txBody>
                    <a:bodyPr/>
                    <a:lstStyle/>
                    <a:p>
                      <a:r>
                        <a:rPr lang="en-US" dirty="0"/>
                        <a:t>20.83%</a:t>
                      </a:r>
                    </a:p>
                  </a:txBody>
                  <a:tcPr>
                    <a:solidFill>
                      <a:schemeClr val="accent5">
                        <a:lumMod val="75000"/>
                      </a:schemeClr>
                    </a:solidFill>
                  </a:tcPr>
                </a:tc>
                <a:extLst>
                  <a:ext uri="{0D108BD9-81ED-4DB2-BD59-A6C34878D82A}">
                    <a16:rowId xmlns:a16="http://schemas.microsoft.com/office/drawing/2014/main" val="2703508496"/>
                  </a:ext>
                </a:extLst>
              </a:tr>
              <a:tr h="304800">
                <a:tc>
                  <a:txBody>
                    <a:bodyPr/>
                    <a:lstStyle/>
                    <a:p>
                      <a:r>
                        <a:rPr lang="en-US" b="0" dirty="0">
                          <a:solidFill>
                            <a:schemeClr val="tx1"/>
                          </a:solidFill>
                          <a:latin typeface="+mn-lt"/>
                        </a:rPr>
                        <a:t>Returned</a:t>
                      </a:r>
                    </a:p>
                  </a:txBody>
                  <a:tcPr>
                    <a:solidFill>
                      <a:schemeClr val="accent5">
                        <a:lumMod val="75000"/>
                      </a:schemeClr>
                    </a:solidFill>
                  </a:tcPr>
                </a:tc>
                <a:tc>
                  <a:txBody>
                    <a:bodyPr/>
                    <a:lstStyle/>
                    <a:p>
                      <a:r>
                        <a:rPr lang="en-US" dirty="0"/>
                        <a:t>247</a:t>
                      </a:r>
                    </a:p>
                  </a:txBody>
                  <a:tcPr>
                    <a:solidFill>
                      <a:schemeClr val="accent5">
                        <a:lumMod val="75000"/>
                      </a:schemeClr>
                    </a:solidFill>
                  </a:tcPr>
                </a:tc>
                <a:tc>
                  <a:txBody>
                    <a:bodyPr/>
                    <a:lstStyle/>
                    <a:p>
                      <a:r>
                        <a:rPr lang="en-US" dirty="0"/>
                        <a:t>20.58%</a:t>
                      </a:r>
                    </a:p>
                  </a:txBody>
                  <a:tcPr>
                    <a:solidFill>
                      <a:schemeClr val="accent5">
                        <a:lumMod val="75000"/>
                      </a:schemeClr>
                    </a:solidFill>
                  </a:tcPr>
                </a:tc>
                <a:extLst>
                  <a:ext uri="{0D108BD9-81ED-4DB2-BD59-A6C34878D82A}">
                    <a16:rowId xmlns:a16="http://schemas.microsoft.com/office/drawing/2014/main" val="3538771981"/>
                  </a:ext>
                </a:extLst>
              </a:tr>
              <a:tr h="304800">
                <a:tc>
                  <a:txBody>
                    <a:bodyPr/>
                    <a:lstStyle/>
                    <a:p>
                      <a:r>
                        <a:rPr lang="en-US" b="0" dirty="0">
                          <a:solidFill>
                            <a:schemeClr val="tx1"/>
                          </a:solidFill>
                          <a:latin typeface="+mn-lt"/>
                        </a:rPr>
                        <a:t>Pending</a:t>
                      </a:r>
                    </a:p>
                  </a:txBody>
                  <a:tcPr>
                    <a:solidFill>
                      <a:schemeClr val="accent5">
                        <a:lumMod val="75000"/>
                      </a:schemeClr>
                    </a:solidFill>
                  </a:tcPr>
                </a:tc>
                <a:tc>
                  <a:txBody>
                    <a:bodyPr/>
                    <a:lstStyle/>
                    <a:p>
                      <a:r>
                        <a:rPr lang="en-US" dirty="0"/>
                        <a:t>237</a:t>
                      </a:r>
                    </a:p>
                  </a:txBody>
                  <a:tcPr>
                    <a:solidFill>
                      <a:schemeClr val="accent5">
                        <a:lumMod val="75000"/>
                      </a:schemeClr>
                    </a:solidFill>
                  </a:tcPr>
                </a:tc>
                <a:tc>
                  <a:txBody>
                    <a:bodyPr/>
                    <a:lstStyle/>
                    <a:p>
                      <a:r>
                        <a:rPr lang="en-US" dirty="0"/>
                        <a:t>19.75%</a:t>
                      </a:r>
                    </a:p>
                  </a:txBody>
                  <a:tcPr>
                    <a:solidFill>
                      <a:schemeClr val="accent5">
                        <a:lumMod val="75000"/>
                      </a:schemeClr>
                    </a:solidFill>
                  </a:tcPr>
                </a:tc>
                <a:extLst>
                  <a:ext uri="{0D108BD9-81ED-4DB2-BD59-A6C34878D82A}">
                    <a16:rowId xmlns:a16="http://schemas.microsoft.com/office/drawing/2014/main" val="3281359900"/>
                  </a:ext>
                </a:extLst>
              </a:tr>
              <a:tr h="304800">
                <a:tc>
                  <a:txBody>
                    <a:bodyPr/>
                    <a:lstStyle/>
                    <a:p>
                      <a:r>
                        <a:rPr lang="en-US" b="0" dirty="0">
                          <a:solidFill>
                            <a:schemeClr val="tx1"/>
                          </a:solidFill>
                          <a:latin typeface="+mn-lt"/>
                        </a:rPr>
                        <a:t>Shipped</a:t>
                      </a:r>
                    </a:p>
                  </a:txBody>
                  <a:tcPr>
                    <a:solidFill>
                      <a:schemeClr val="accent5">
                        <a:lumMod val="75000"/>
                      </a:schemeClr>
                    </a:solidFill>
                  </a:tcPr>
                </a:tc>
                <a:tc>
                  <a:txBody>
                    <a:bodyPr/>
                    <a:lstStyle/>
                    <a:p>
                      <a:r>
                        <a:rPr lang="en-US" dirty="0"/>
                        <a:t>235</a:t>
                      </a:r>
                    </a:p>
                  </a:txBody>
                  <a:tcPr>
                    <a:solidFill>
                      <a:schemeClr val="accent5">
                        <a:lumMod val="75000"/>
                      </a:schemeClr>
                    </a:solidFill>
                  </a:tcPr>
                </a:tc>
                <a:tc>
                  <a:txBody>
                    <a:bodyPr/>
                    <a:lstStyle/>
                    <a:p>
                      <a:r>
                        <a:rPr lang="en-US" dirty="0"/>
                        <a:t>19.58%</a:t>
                      </a:r>
                    </a:p>
                  </a:txBody>
                  <a:tcPr>
                    <a:solidFill>
                      <a:schemeClr val="accent5">
                        <a:lumMod val="75000"/>
                      </a:schemeClr>
                    </a:solidFill>
                  </a:tcPr>
                </a:tc>
                <a:extLst>
                  <a:ext uri="{0D108BD9-81ED-4DB2-BD59-A6C34878D82A}">
                    <a16:rowId xmlns:a16="http://schemas.microsoft.com/office/drawing/2014/main" val="4202829777"/>
                  </a:ext>
                </a:extLst>
              </a:tr>
              <a:tr h="304800">
                <a:tc>
                  <a:txBody>
                    <a:bodyPr/>
                    <a:lstStyle/>
                    <a:p>
                      <a:r>
                        <a:rPr lang="en-US" b="0" dirty="0">
                          <a:solidFill>
                            <a:schemeClr val="tx1"/>
                          </a:solidFill>
                          <a:latin typeface="+mn-lt"/>
                        </a:rPr>
                        <a:t>Delivered</a:t>
                      </a:r>
                    </a:p>
                  </a:txBody>
                  <a:tcPr>
                    <a:solidFill>
                      <a:schemeClr val="accent5">
                        <a:lumMod val="75000"/>
                      </a:schemeClr>
                    </a:solidFill>
                  </a:tcPr>
                </a:tc>
                <a:tc>
                  <a:txBody>
                    <a:bodyPr/>
                    <a:lstStyle/>
                    <a:p>
                      <a:r>
                        <a:rPr lang="en-US" dirty="0"/>
                        <a:t>231</a:t>
                      </a:r>
                    </a:p>
                  </a:txBody>
                  <a:tcPr>
                    <a:solidFill>
                      <a:schemeClr val="accent5">
                        <a:lumMod val="75000"/>
                      </a:schemeClr>
                    </a:solidFill>
                  </a:tcPr>
                </a:tc>
                <a:tc>
                  <a:txBody>
                    <a:bodyPr/>
                    <a:lstStyle/>
                    <a:p>
                      <a:r>
                        <a:rPr lang="en-US" dirty="0"/>
                        <a:t>19.25%</a:t>
                      </a:r>
                    </a:p>
                  </a:txBody>
                  <a:tcPr>
                    <a:solidFill>
                      <a:schemeClr val="accent5">
                        <a:lumMod val="75000"/>
                      </a:schemeClr>
                    </a:solidFill>
                  </a:tcPr>
                </a:tc>
                <a:extLst>
                  <a:ext uri="{0D108BD9-81ED-4DB2-BD59-A6C34878D82A}">
                    <a16:rowId xmlns:a16="http://schemas.microsoft.com/office/drawing/2014/main" val="1432079713"/>
                  </a:ext>
                </a:extLst>
              </a:tr>
            </a:tbl>
          </a:graphicData>
        </a:graphic>
      </p:graphicFrame>
      <p:graphicFrame>
        <p:nvGraphicFramePr>
          <p:cNvPr id="11" name="Table 10">
            <a:extLst>
              <a:ext uri="{FF2B5EF4-FFF2-40B4-BE49-F238E27FC236}">
                <a16:creationId xmlns:a16="http://schemas.microsoft.com/office/drawing/2014/main" id="{050ECFC3-0015-B07D-0B27-5427DD312E03}"/>
              </a:ext>
            </a:extLst>
          </p:cNvPr>
          <p:cNvGraphicFramePr>
            <a:graphicFrameLocks noGrp="1"/>
          </p:cNvGraphicFramePr>
          <p:nvPr>
            <p:extLst>
              <p:ext uri="{D42A27DB-BD31-4B8C-83A1-F6EECF244321}">
                <p14:modId xmlns:p14="http://schemas.microsoft.com/office/powerpoint/2010/main" val="4017007838"/>
              </p:ext>
            </p:extLst>
          </p:nvPr>
        </p:nvGraphicFramePr>
        <p:xfrm>
          <a:off x="8128000" y="3954421"/>
          <a:ext cx="7605486" cy="2194560"/>
        </p:xfrm>
        <a:graphic>
          <a:graphicData uri="http://schemas.openxmlformats.org/drawingml/2006/table">
            <a:tbl>
              <a:tblPr firstRow="1" bandRow="1">
                <a:tableStyleId>{5C22544A-7EE6-4342-B048-85BDC9FD1C3A}</a:tableStyleId>
              </a:tblPr>
              <a:tblGrid>
                <a:gridCol w="2535162">
                  <a:extLst>
                    <a:ext uri="{9D8B030D-6E8A-4147-A177-3AD203B41FA5}">
                      <a16:colId xmlns:a16="http://schemas.microsoft.com/office/drawing/2014/main" val="3046047931"/>
                    </a:ext>
                  </a:extLst>
                </a:gridCol>
                <a:gridCol w="2535162">
                  <a:extLst>
                    <a:ext uri="{9D8B030D-6E8A-4147-A177-3AD203B41FA5}">
                      <a16:colId xmlns:a16="http://schemas.microsoft.com/office/drawing/2014/main" val="361065333"/>
                    </a:ext>
                  </a:extLst>
                </a:gridCol>
                <a:gridCol w="2535162">
                  <a:extLst>
                    <a:ext uri="{9D8B030D-6E8A-4147-A177-3AD203B41FA5}">
                      <a16:colId xmlns:a16="http://schemas.microsoft.com/office/drawing/2014/main" val="51396947"/>
                    </a:ext>
                  </a:extLst>
                </a:gridCol>
              </a:tblGrid>
              <a:tr h="438912">
                <a:tc>
                  <a:txBody>
                    <a:bodyPr/>
                    <a:lstStyle/>
                    <a:p>
                      <a:r>
                        <a:rPr lang="en-US" sz="1800" b="1" dirty="0">
                          <a:solidFill>
                            <a:schemeClr val="bg1"/>
                          </a:solidFill>
                          <a:latin typeface="+mn-lt"/>
                          <a:cs typeface="Museo Moderno Medium"/>
                          <a:sym typeface="Museo Moderno Medium"/>
                        </a:rPr>
                        <a:t>Coupon code</a:t>
                      </a:r>
                      <a:endParaRPr lang="en-US" dirty="0">
                        <a:solidFill>
                          <a:schemeClr val="bg1"/>
                        </a:solidFill>
                        <a:latin typeface="+mn-lt"/>
                      </a:endParaRPr>
                    </a:p>
                  </a:txBody>
                  <a:tcPr>
                    <a:solidFill>
                      <a:schemeClr val="accent5">
                        <a:lumMod val="75000"/>
                      </a:schemeClr>
                    </a:solidFill>
                  </a:tcPr>
                </a:tc>
                <a:tc>
                  <a:txBody>
                    <a:bodyPr/>
                    <a:lstStyle/>
                    <a:p>
                      <a:r>
                        <a:rPr lang="en-US" sz="1800" b="1" dirty="0">
                          <a:solidFill>
                            <a:schemeClr val="bg1"/>
                          </a:solidFill>
                          <a:latin typeface="+mn-lt"/>
                          <a:ea typeface="Museo Moderno Medium"/>
                          <a:cs typeface="Museo Moderno Medium"/>
                          <a:sym typeface="Museo Moderno Medium"/>
                        </a:rPr>
                        <a:t>Frequency</a:t>
                      </a:r>
                      <a:endParaRPr lang="en-US" dirty="0">
                        <a:solidFill>
                          <a:schemeClr val="bg1"/>
                        </a:solidFill>
                        <a:latin typeface="+mn-lt"/>
                      </a:endParaRPr>
                    </a:p>
                  </a:txBody>
                  <a:tcPr>
                    <a:solidFill>
                      <a:schemeClr val="accent5">
                        <a:lumMod val="75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b="1" dirty="0">
                          <a:solidFill>
                            <a:schemeClr val="bg1"/>
                          </a:solidFill>
                          <a:latin typeface="+mn-lt"/>
                          <a:ea typeface="Museo Moderno Medium"/>
                          <a:cs typeface="Museo Moderno Medium"/>
                          <a:sym typeface="Museo Moderno Medium"/>
                        </a:rPr>
                        <a:t>Relative Frequency</a:t>
                      </a:r>
                      <a:endParaRPr lang="en-US" dirty="0">
                        <a:solidFill>
                          <a:schemeClr val="bg1"/>
                        </a:solidFill>
                        <a:latin typeface="+mn-lt"/>
                      </a:endParaRPr>
                    </a:p>
                  </a:txBody>
                  <a:tcPr>
                    <a:solidFill>
                      <a:schemeClr val="accent5">
                        <a:lumMod val="75000"/>
                      </a:schemeClr>
                    </a:solidFill>
                  </a:tcPr>
                </a:tc>
                <a:extLst>
                  <a:ext uri="{0D108BD9-81ED-4DB2-BD59-A6C34878D82A}">
                    <a16:rowId xmlns:a16="http://schemas.microsoft.com/office/drawing/2014/main" val="2242364299"/>
                  </a:ext>
                </a:extLst>
              </a:tr>
              <a:tr h="438912">
                <a:tc>
                  <a:txBody>
                    <a:bodyPr/>
                    <a:lstStyle/>
                    <a:p>
                      <a:r>
                        <a:rPr lang="en-US" sz="1800" b="0" dirty="0" err="1">
                          <a:solidFill>
                            <a:schemeClr val="tx1"/>
                          </a:solidFill>
                          <a:latin typeface="+mn-lt"/>
                          <a:cs typeface="Museo Moderno Medium"/>
                          <a:sym typeface="Museo Moderno Medium"/>
                        </a:rPr>
                        <a:t>Freeship</a:t>
                      </a:r>
                      <a:endParaRPr lang="en-US" b="0" dirty="0">
                        <a:solidFill>
                          <a:schemeClr val="tx1"/>
                        </a:solidFill>
                        <a:latin typeface="+mn-lt"/>
                      </a:endParaRPr>
                    </a:p>
                  </a:txBody>
                  <a:tcPr>
                    <a:solidFill>
                      <a:schemeClr val="accent5">
                        <a:lumMod val="75000"/>
                      </a:schemeClr>
                    </a:solidFill>
                  </a:tcPr>
                </a:tc>
                <a:tc>
                  <a:txBody>
                    <a:bodyPr/>
                    <a:lstStyle/>
                    <a:p>
                      <a:r>
                        <a:rPr lang="en-US" dirty="0"/>
                        <a:t>313</a:t>
                      </a:r>
                    </a:p>
                  </a:txBody>
                  <a:tcPr>
                    <a:solidFill>
                      <a:schemeClr val="accent5">
                        <a:lumMod val="75000"/>
                      </a:schemeClr>
                    </a:solidFill>
                  </a:tcPr>
                </a:tc>
                <a:tc>
                  <a:txBody>
                    <a:bodyPr/>
                    <a:lstStyle/>
                    <a:p>
                      <a:r>
                        <a:rPr lang="en-US" dirty="0"/>
                        <a:t>26.08%</a:t>
                      </a:r>
                    </a:p>
                  </a:txBody>
                  <a:tcPr>
                    <a:solidFill>
                      <a:schemeClr val="accent5">
                        <a:lumMod val="75000"/>
                      </a:schemeClr>
                    </a:solidFill>
                  </a:tcPr>
                </a:tc>
                <a:extLst>
                  <a:ext uri="{0D108BD9-81ED-4DB2-BD59-A6C34878D82A}">
                    <a16:rowId xmlns:a16="http://schemas.microsoft.com/office/drawing/2014/main" val="2703508496"/>
                  </a:ext>
                </a:extLst>
              </a:tr>
              <a:tr h="438912">
                <a:tc>
                  <a:txBody>
                    <a:bodyPr/>
                    <a:lstStyle/>
                    <a:p>
                      <a:r>
                        <a:rPr lang="en-US" sz="1800" b="0" dirty="0">
                          <a:solidFill>
                            <a:schemeClr val="tx1"/>
                          </a:solidFill>
                          <a:latin typeface="+mn-lt"/>
                          <a:cs typeface="Museo Moderno Medium"/>
                          <a:sym typeface="Museo Moderno Medium"/>
                        </a:rPr>
                        <a:t>No coupon</a:t>
                      </a:r>
                      <a:endParaRPr lang="en-US" b="0" dirty="0">
                        <a:solidFill>
                          <a:schemeClr val="tx1"/>
                        </a:solidFill>
                        <a:latin typeface="+mn-lt"/>
                      </a:endParaRPr>
                    </a:p>
                  </a:txBody>
                  <a:tcPr>
                    <a:solidFill>
                      <a:schemeClr val="accent5">
                        <a:lumMod val="75000"/>
                      </a:schemeClr>
                    </a:solidFill>
                  </a:tcPr>
                </a:tc>
                <a:tc>
                  <a:txBody>
                    <a:bodyPr/>
                    <a:lstStyle/>
                    <a:p>
                      <a:r>
                        <a:rPr lang="en-US" dirty="0"/>
                        <a:t>309</a:t>
                      </a:r>
                    </a:p>
                  </a:txBody>
                  <a:tcPr>
                    <a:solidFill>
                      <a:schemeClr val="accent5">
                        <a:lumMod val="75000"/>
                      </a:schemeClr>
                    </a:solidFill>
                  </a:tcPr>
                </a:tc>
                <a:tc>
                  <a:txBody>
                    <a:bodyPr/>
                    <a:lstStyle/>
                    <a:p>
                      <a:r>
                        <a:rPr lang="en-US" dirty="0"/>
                        <a:t>25.75%</a:t>
                      </a:r>
                    </a:p>
                  </a:txBody>
                  <a:tcPr>
                    <a:solidFill>
                      <a:schemeClr val="accent5">
                        <a:lumMod val="75000"/>
                      </a:schemeClr>
                    </a:solidFill>
                  </a:tcPr>
                </a:tc>
                <a:extLst>
                  <a:ext uri="{0D108BD9-81ED-4DB2-BD59-A6C34878D82A}">
                    <a16:rowId xmlns:a16="http://schemas.microsoft.com/office/drawing/2014/main" val="3538771981"/>
                  </a:ext>
                </a:extLst>
              </a:tr>
              <a:tr h="438912">
                <a:tc>
                  <a:txBody>
                    <a:bodyPr/>
                    <a:lstStyle/>
                    <a:p>
                      <a:r>
                        <a:rPr lang="en-US" sz="1800" b="0" dirty="0">
                          <a:solidFill>
                            <a:schemeClr val="tx1"/>
                          </a:solidFill>
                          <a:latin typeface="+mn-lt"/>
                          <a:cs typeface="Museo Moderno Medium"/>
                          <a:sym typeface="Museo Moderno Medium"/>
                        </a:rPr>
                        <a:t>Winter15</a:t>
                      </a:r>
                      <a:endParaRPr lang="en-US" b="0" dirty="0">
                        <a:solidFill>
                          <a:schemeClr val="tx1"/>
                        </a:solidFill>
                        <a:latin typeface="+mn-lt"/>
                      </a:endParaRPr>
                    </a:p>
                  </a:txBody>
                  <a:tcPr>
                    <a:solidFill>
                      <a:schemeClr val="accent5">
                        <a:lumMod val="75000"/>
                      </a:schemeClr>
                    </a:solidFill>
                  </a:tcPr>
                </a:tc>
                <a:tc>
                  <a:txBody>
                    <a:bodyPr/>
                    <a:lstStyle/>
                    <a:p>
                      <a:r>
                        <a:rPr lang="en-US" dirty="0"/>
                        <a:t>292</a:t>
                      </a:r>
                    </a:p>
                  </a:txBody>
                  <a:tcPr>
                    <a:solidFill>
                      <a:schemeClr val="accent5">
                        <a:lumMod val="75000"/>
                      </a:schemeClr>
                    </a:solidFill>
                  </a:tcPr>
                </a:tc>
                <a:tc>
                  <a:txBody>
                    <a:bodyPr/>
                    <a:lstStyle/>
                    <a:p>
                      <a:r>
                        <a:rPr lang="en-US" dirty="0"/>
                        <a:t>24.33%</a:t>
                      </a:r>
                    </a:p>
                  </a:txBody>
                  <a:tcPr>
                    <a:solidFill>
                      <a:schemeClr val="accent5">
                        <a:lumMod val="75000"/>
                      </a:schemeClr>
                    </a:solidFill>
                  </a:tcPr>
                </a:tc>
                <a:extLst>
                  <a:ext uri="{0D108BD9-81ED-4DB2-BD59-A6C34878D82A}">
                    <a16:rowId xmlns:a16="http://schemas.microsoft.com/office/drawing/2014/main" val="3281359900"/>
                  </a:ext>
                </a:extLst>
              </a:tr>
              <a:tr h="438912">
                <a:tc>
                  <a:txBody>
                    <a:bodyPr/>
                    <a:lstStyle/>
                    <a:p>
                      <a:r>
                        <a:rPr lang="en-US" sz="1800" b="0" dirty="0">
                          <a:solidFill>
                            <a:schemeClr val="tx1"/>
                          </a:solidFill>
                          <a:latin typeface="+mn-lt"/>
                          <a:cs typeface="Museo Moderno Medium"/>
                          <a:sym typeface="Museo Moderno Medium"/>
                        </a:rPr>
                        <a:t>save10</a:t>
                      </a:r>
                      <a:endParaRPr lang="en-US" b="0" dirty="0">
                        <a:solidFill>
                          <a:schemeClr val="tx1"/>
                        </a:solidFill>
                        <a:latin typeface="+mn-lt"/>
                      </a:endParaRPr>
                    </a:p>
                  </a:txBody>
                  <a:tcPr>
                    <a:solidFill>
                      <a:schemeClr val="accent5">
                        <a:lumMod val="75000"/>
                      </a:schemeClr>
                    </a:solidFill>
                  </a:tcPr>
                </a:tc>
                <a:tc>
                  <a:txBody>
                    <a:bodyPr/>
                    <a:lstStyle/>
                    <a:p>
                      <a:r>
                        <a:rPr lang="en-US" dirty="0"/>
                        <a:t>286</a:t>
                      </a:r>
                    </a:p>
                  </a:txBody>
                  <a:tcPr>
                    <a:solidFill>
                      <a:schemeClr val="accent5">
                        <a:lumMod val="75000"/>
                      </a:schemeClr>
                    </a:solidFill>
                  </a:tcPr>
                </a:tc>
                <a:tc>
                  <a:txBody>
                    <a:bodyPr/>
                    <a:lstStyle/>
                    <a:p>
                      <a:r>
                        <a:rPr lang="en-US" dirty="0"/>
                        <a:t>23.83%</a:t>
                      </a:r>
                    </a:p>
                  </a:txBody>
                  <a:tcPr>
                    <a:solidFill>
                      <a:schemeClr val="accent5">
                        <a:lumMod val="75000"/>
                      </a:schemeClr>
                    </a:solidFill>
                  </a:tcPr>
                </a:tc>
                <a:extLst>
                  <a:ext uri="{0D108BD9-81ED-4DB2-BD59-A6C34878D82A}">
                    <a16:rowId xmlns:a16="http://schemas.microsoft.com/office/drawing/2014/main" val="4202829777"/>
                  </a:ext>
                </a:extLst>
              </a:tr>
            </a:tbl>
          </a:graphicData>
        </a:graphic>
      </p:graphicFrame>
      <p:graphicFrame>
        <p:nvGraphicFramePr>
          <p:cNvPr id="13" name="Table 12">
            <a:extLst>
              <a:ext uri="{FF2B5EF4-FFF2-40B4-BE49-F238E27FC236}">
                <a16:creationId xmlns:a16="http://schemas.microsoft.com/office/drawing/2014/main" id="{484B3214-D1F5-CAB0-78A6-6607A3A1B6D3}"/>
              </a:ext>
            </a:extLst>
          </p:cNvPr>
          <p:cNvGraphicFramePr>
            <a:graphicFrameLocks noGrp="1"/>
          </p:cNvGraphicFramePr>
          <p:nvPr>
            <p:extLst>
              <p:ext uri="{D42A27DB-BD31-4B8C-83A1-F6EECF244321}">
                <p14:modId xmlns:p14="http://schemas.microsoft.com/office/powerpoint/2010/main" val="2065826190"/>
              </p:ext>
            </p:extLst>
          </p:nvPr>
        </p:nvGraphicFramePr>
        <p:xfrm>
          <a:off x="275771" y="6264370"/>
          <a:ext cx="15457716" cy="2194560"/>
        </p:xfrm>
        <a:graphic>
          <a:graphicData uri="http://schemas.openxmlformats.org/drawingml/2006/table">
            <a:tbl>
              <a:tblPr firstRow="1" bandRow="1">
                <a:tableStyleId>{5C22544A-7EE6-4342-B048-85BDC9FD1C3A}</a:tableStyleId>
              </a:tblPr>
              <a:tblGrid>
                <a:gridCol w="5152572">
                  <a:extLst>
                    <a:ext uri="{9D8B030D-6E8A-4147-A177-3AD203B41FA5}">
                      <a16:colId xmlns:a16="http://schemas.microsoft.com/office/drawing/2014/main" val="3046047931"/>
                    </a:ext>
                  </a:extLst>
                </a:gridCol>
                <a:gridCol w="5152572">
                  <a:extLst>
                    <a:ext uri="{9D8B030D-6E8A-4147-A177-3AD203B41FA5}">
                      <a16:colId xmlns:a16="http://schemas.microsoft.com/office/drawing/2014/main" val="361065333"/>
                    </a:ext>
                  </a:extLst>
                </a:gridCol>
                <a:gridCol w="5152572">
                  <a:extLst>
                    <a:ext uri="{9D8B030D-6E8A-4147-A177-3AD203B41FA5}">
                      <a16:colId xmlns:a16="http://schemas.microsoft.com/office/drawing/2014/main" val="51396947"/>
                    </a:ext>
                  </a:extLst>
                </a:gridCol>
              </a:tblGrid>
              <a:tr h="233196">
                <a:tc>
                  <a:txBody>
                    <a:bodyPr/>
                    <a:lstStyle/>
                    <a:p>
                      <a:r>
                        <a:rPr lang="en-US" sz="1800" b="1" dirty="0">
                          <a:solidFill>
                            <a:schemeClr val="bg1"/>
                          </a:solidFill>
                          <a:latin typeface="+mn-lt"/>
                          <a:cs typeface="Museo Moderno Medium"/>
                          <a:sym typeface="Museo Moderno Medium"/>
                        </a:rPr>
                        <a:t>Referral source</a:t>
                      </a:r>
                      <a:endParaRPr lang="en-US" dirty="0">
                        <a:solidFill>
                          <a:schemeClr val="bg1"/>
                        </a:solidFill>
                        <a:latin typeface="+mn-lt"/>
                      </a:endParaRPr>
                    </a:p>
                  </a:txBody>
                  <a:tcPr>
                    <a:solidFill>
                      <a:schemeClr val="accent5">
                        <a:lumMod val="75000"/>
                      </a:schemeClr>
                    </a:solidFill>
                  </a:tcPr>
                </a:tc>
                <a:tc>
                  <a:txBody>
                    <a:bodyPr/>
                    <a:lstStyle/>
                    <a:p>
                      <a:r>
                        <a:rPr lang="en-US" sz="1800" b="1" dirty="0">
                          <a:solidFill>
                            <a:schemeClr val="bg1"/>
                          </a:solidFill>
                          <a:latin typeface="+mn-lt"/>
                          <a:ea typeface="Museo Moderno Medium"/>
                          <a:cs typeface="Museo Moderno Medium"/>
                          <a:sym typeface="Museo Moderno Medium"/>
                        </a:rPr>
                        <a:t>Frequency</a:t>
                      </a:r>
                      <a:endParaRPr lang="en-US" dirty="0">
                        <a:solidFill>
                          <a:schemeClr val="bg1"/>
                        </a:solidFill>
                        <a:latin typeface="+mn-lt"/>
                      </a:endParaRPr>
                    </a:p>
                  </a:txBody>
                  <a:tcPr>
                    <a:solidFill>
                      <a:schemeClr val="accent5">
                        <a:lumMod val="75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b="1" dirty="0">
                          <a:solidFill>
                            <a:schemeClr val="bg1"/>
                          </a:solidFill>
                          <a:latin typeface="+mn-lt"/>
                          <a:ea typeface="Museo Moderno Medium"/>
                          <a:cs typeface="Museo Moderno Medium"/>
                          <a:sym typeface="Museo Moderno Medium"/>
                        </a:rPr>
                        <a:t>Relative Frequency</a:t>
                      </a:r>
                      <a:endParaRPr lang="en-US" dirty="0">
                        <a:solidFill>
                          <a:schemeClr val="bg1"/>
                        </a:solidFill>
                        <a:latin typeface="+mn-lt"/>
                      </a:endParaRPr>
                    </a:p>
                  </a:txBody>
                  <a:tcPr>
                    <a:solidFill>
                      <a:schemeClr val="accent5">
                        <a:lumMod val="75000"/>
                      </a:schemeClr>
                    </a:solidFill>
                  </a:tcPr>
                </a:tc>
                <a:extLst>
                  <a:ext uri="{0D108BD9-81ED-4DB2-BD59-A6C34878D82A}">
                    <a16:rowId xmlns:a16="http://schemas.microsoft.com/office/drawing/2014/main" val="2242364299"/>
                  </a:ext>
                </a:extLst>
              </a:tr>
              <a:tr h="233196">
                <a:tc>
                  <a:txBody>
                    <a:bodyPr/>
                    <a:lstStyle/>
                    <a:p>
                      <a:r>
                        <a:rPr lang="en-US" b="0" dirty="0">
                          <a:solidFill>
                            <a:schemeClr val="tx1"/>
                          </a:solidFill>
                          <a:latin typeface="+mn-lt"/>
                        </a:rPr>
                        <a:t>Instagram</a:t>
                      </a:r>
                    </a:p>
                  </a:txBody>
                  <a:tcPr>
                    <a:solidFill>
                      <a:schemeClr val="accent5">
                        <a:lumMod val="75000"/>
                      </a:schemeClr>
                    </a:solidFill>
                  </a:tcPr>
                </a:tc>
                <a:tc>
                  <a:txBody>
                    <a:bodyPr/>
                    <a:lstStyle/>
                    <a:p>
                      <a:r>
                        <a:rPr lang="en-US" dirty="0"/>
                        <a:t>259</a:t>
                      </a:r>
                    </a:p>
                  </a:txBody>
                  <a:tcPr>
                    <a:solidFill>
                      <a:schemeClr val="accent5">
                        <a:lumMod val="75000"/>
                      </a:schemeClr>
                    </a:solidFill>
                  </a:tcPr>
                </a:tc>
                <a:tc>
                  <a:txBody>
                    <a:bodyPr/>
                    <a:lstStyle/>
                    <a:p>
                      <a:r>
                        <a:rPr lang="en-US" dirty="0"/>
                        <a:t>21.58%</a:t>
                      </a:r>
                    </a:p>
                  </a:txBody>
                  <a:tcPr>
                    <a:solidFill>
                      <a:schemeClr val="accent5">
                        <a:lumMod val="75000"/>
                      </a:schemeClr>
                    </a:solidFill>
                  </a:tcPr>
                </a:tc>
                <a:extLst>
                  <a:ext uri="{0D108BD9-81ED-4DB2-BD59-A6C34878D82A}">
                    <a16:rowId xmlns:a16="http://schemas.microsoft.com/office/drawing/2014/main" val="2703508496"/>
                  </a:ext>
                </a:extLst>
              </a:tr>
              <a:tr h="233196">
                <a:tc>
                  <a:txBody>
                    <a:bodyPr/>
                    <a:lstStyle/>
                    <a:p>
                      <a:r>
                        <a:rPr lang="en-US" b="0" dirty="0">
                          <a:solidFill>
                            <a:schemeClr val="tx1"/>
                          </a:solidFill>
                          <a:latin typeface="+mn-lt"/>
                        </a:rPr>
                        <a:t>Email</a:t>
                      </a:r>
                    </a:p>
                  </a:txBody>
                  <a:tcPr>
                    <a:solidFill>
                      <a:schemeClr val="accent5">
                        <a:lumMod val="75000"/>
                      </a:schemeClr>
                    </a:solidFill>
                  </a:tcPr>
                </a:tc>
                <a:tc>
                  <a:txBody>
                    <a:bodyPr/>
                    <a:lstStyle/>
                    <a:p>
                      <a:r>
                        <a:rPr lang="en-US" dirty="0"/>
                        <a:t>250</a:t>
                      </a:r>
                    </a:p>
                  </a:txBody>
                  <a:tcPr>
                    <a:solidFill>
                      <a:schemeClr val="accent5">
                        <a:lumMod val="75000"/>
                      </a:schemeClr>
                    </a:solidFill>
                  </a:tcPr>
                </a:tc>
                <a:tc>
                  <a:txBody>
                    <a:bodyPr/>
                    <a:lstStyle/>
                    <a:p>
                      <a:r>
                        <a:rPr lang="en-US" dirty="0"/>
                        <a:t>20.83%</a:t>
                      </a:r>
                    </a:p>
                  </a:txBody>
                  <a:tcPr>
                    <a:solidFill>
                      <a:schemeClr val="accent5">
                        <a:lumMod val="75000"/>
                      </a:schemeClr>
                    </a:solidFill>
                  </a:tcPr>
                </a:tc>
                <a:extLst>
                  <a:ext uri="{0D108BD9-81ED-4DB2-BD59-A6C34878D82A}">
                    <a16:rowId xmlns:a16="http://schemas.microsoft.com/office/drawing/2014/main" val="3538771981"/>
                  </a:ext>
                </a:extLst>
              </a:tr>
              <a:tr h="233196">
                <a:tc>
                  <a:txBody>
                    <a:bodyPr/>
                    <a:lstStyle/>
                    <a:p>
                      <a:r>
                        <a:rPr lang="en-US" b="0" dirty="0">
                          <a:solidFill>
                            <a:schemeClr val="tx1"/>
                          </a:solidFill>
                          <a:latin typeface="+mn-lt"/>
                        </a:rPr>
                        <a:t>Google</a:t>
                      </a:r>
                    </a:p>
                  </a:txBody>
                  <a:tcPr>
                    <a:solidFill>
                      <a:schemeClr val="accent5">
                        <a:lumMod val="75000"/>
                      </a:schemeClr>
                    </a:solidFill>
                  </a:tcPr>
                </a:tc>
                <a:tc>
                  <a:txBody>
                    <a:bodyPr/>
                    <a:lstStyle/>
                    <a:p>
                      <a:r>
                        <a:rPr lang="en-US" dirty="0"/>
                        <a:t>241</a:t>
                      </a:r>
                    </a:p>
                  </a:txBody>
                  <a:tcPr>
                    <a:solidFill>
                      <a:schemeClr val="accent5">
                        <a:lumMod val="75000"/>
                      </a:schemeClr>
                    </a:solidFill>
                  </a:tcPr>
                </a:tc>
                <a:tc>
                  <a:txBody>
                    <a:bodyPr/>
                    <a:lstStyle/>
                    <a:p>
                      <a:r>
                        <a:rPr lang="en-US" dirty="0"/>
                        <a:t>20.08%</a:t>
                      </a:r>
                    </a:p>
                  </a:txBody>
                  <a:tcPr>
                    <a:solidFill>
                      <a:schemeClr val="accent5">
                        <a:lumMod val="75000"/>
                      </a:schemeClr>
                    </a:solidFill>
                  </a:tcPr>
                </a:tc>
                <a:extLst>
                  <a:ext uri="{0D108BD9-81ED-4DB2-BD59-A6C34878D82A}">
                    <a16:rowId xmlns:a16="http://schemas.microsoft.com/office/drawing/2014/main" val="3281359900"/>
                  </a:ext>
                </a:extLst>
              </a:tr>
              <a:tr h="233196">
                <a:tc>
                  <a:txBody>
                    <a:bodyPr/>
                    <a:lstStyle/>
                    <a:p>
                      <a:r>
                        <a:rPr lang="en-US" b="0" dirty="0">
                          <a:solidFill>
                            <a:schemeClr val="tx1"/>
                          </a:solidFill>
                          <a:latin typeface="+mn-lt"/>
                        </a:rPr>
                        <a:t>Facebook</a:t>
                      </a:r>
                    </a:p>
                  </a:txBody>
                  <a:tcPr>
                    <a:solidFill>
                      <a:schemeClr val="accent5">
                        <a:lumMod val="75000"/>
                      </a:schemeClr>
                    </a:solidFill>
                  </a:tcPr>
                </a:tc>
                <a:tc>
                  <a:txBody>
                    <a:bodyPr/>
                    <a:lstStyle/>
                    <a:p>
                      <a:r>
                        <a:rPr lang="en-US" dirty="0"/>
                        <a:t>228</a:t>
                      </a:r>
                    </a:p>
                  </a:txBody>
                  <a:tcPr>
                    <a:solidFill>
                      <a:schemeClr val="accent5">
                        <a:lumMod val="75000"/>
                      </a:schemeClr>
                    </a:solidFill>
                  </a:tcPr>
                </a:tc>
                <a:tc>
                  <a:txBody>
                    <a:bodyPr/>
                    <a:lstStyle/>
                    <a:p>
                      <a:r>
                        <a:rPr lang="en-US" dirty="0"/>
                        <a:t>19%</a:t>
                      </a:r>
                    </a:p>
                  </a:txBody>
                  <a:tcPr>
                    <a:solidFill>
                      <a:schemeClr val="accent5">
                        <a:lumMod val="75000"/>
                      </a:schemeClr>
                    </a:solidFill>
                  </a:tcPr>
                </a:tc>
                <a:extLst>
                  <a:ext uri="{0D108BD9-81ED-4DB2-BD59-A6C34878D82A}">
                    <a16:rowId xmlns:a16="http://schemas.microsoft.com/office/drawing/2014/main" val="4202829777"/>
                  </a:ext>
                </a:extLst>
              </a:tr>
              <a:tr h="233196">
                <a:tc>
                  <a:txBody>
                    <a:bodyPr/>
                    <a:lstStyle/>
                    <a:p>
                      <a:r>
                        <a:rPr lang="en-US" b="0" dirty="0">
                          <a:solidFill>
                            <a:schemeClr val="tx1"/>
                          </a:solidFill>
                          <a:latin typeface="+mn-lt"/>
                        </a:rPr>
                        <a:t>Other referrals</a:t>
                      </a:r>
                    </a:p>
                  </a:txBody>
                  <a:tcPr>
                    <a:solidFill>
                      <a:schemeClr val="accent5">
                        <a:lumMod val="75000"/>
                      </a:schemeClr>
                    </a:solidFill>
                  </a:tcPr>
                </a:tc>
                <a:tc>
                  <a:txBody>
                    <a:bodyPr/>
                    <a:lstStyle/>
                    <a:p>
                      <a:r>
                        <a:rPr lang="en-US" dirty="0"/>
                        <a:t>222</a:t>
                      </a:r>
                    </a:p>
                  </a:txBody>
                  <a:tcPr>
                    <a:solidFill>
                      <a:schemeClr val="accent5">
                        <a:lumMod val="75000"/>
                      </a:schemeClr>
                    </a:solidFill>
                  </a:tcPr>
                </a:tc>
                <a:tc>
                  <a:txBody>
                    <a:bodyPr/>
                    <a:lstStyle/>
                    <a:p>
                      <a:r>
                        <a:rPr lang="en-US" dirty="0"/>
                        <a:t>18.5%</a:t>
                      </a:r>
                    </a:p>
                  </a:txBody>
                  <a:tcPr>
                    <a:solidFill>
                      <a:schemeClr val="accent5">
                        <a:lumMod val="75000"/>
                      </a:schemeClr>
                    </a:solidFill>
                  </a:tcPr>
                </a:tc>
                <a:extLst>
                  <a:ext uri="{0D108BD9-81ED-4DB2-BD59-A6C34878D82A}">
                    <a16:rowId xmlns:a16="http://schemas.microsoft.com/office/drawing/2014/main" val="1432079713"/>
                  </a:ext>
                </a:extLst>
              </a:tr>
            </a:tbl>
          </a:graphicData>
        </a:graphic>
      </p:graphicFrame>
      <p:sp>
        <p:nvSpPr>
          <p:cNvPr id="14" name="TextBox 10">
            <a:extLst>
              <a:ext uri="{FF2B5EF4-FFF2-40B4-BE49-F238E27FC236}">
                <a16:creationId xmlns:a16="http://schemas.microsoft.com/office/drawing/2014/main" id="{7F6FA291-56DE-D317-29C2-FDA78035C3E2}"/>
              </a:ext>
            </a:extLst>
          </p:cNvPr>
          <p:cNvSpPr txBox="1"/>
          <p:nvPr/>
        </p:nvSpPr>
        <p:spPr>
          <a:xfrm>
            <a:off x="232228" y="8574319"/>
            <a:ext cx="14790057" cy="1451616"/>
          </a:xfrm>
          <a:prstGeom prst="rect">
            <a:avLst/>
          </a:prstGeom>
        </p:spPr>
        <p:txBody>
          <a:bodyPr wrap="square" lIns="0" tIns="0" rIns="0" bIns="0" rtlCol="0" anchor="t">
            <a:spAutoFit/>
          </a:bodyPr>
          <a:lstStyle/>
          <a:p>
            <a:pPr algn="l">
              <a:lnSpc>
                <a:spcPts val="5990"/>
              </a:lnSpc>
            </a:pPr>
            <a:r>
              <a:rPr lang="en-US" sz="3600" b="1" dirty="0">
                <a:solidFill>
                  <a:srgbClr val="124E73"/>
                </a:solidFill>
                <a:latin typeface="Museo Moderno Medium"/>
                <a:ea typeface="Museo Moderno Medium"/>
                <a:cs typeface="Museo Moderno Medium"/>
                <a:sym typeface="Museo Moderno Medium"/>
              </a:rPr>
              <a:t>These Tables were used to identify categories distribution and most common category for each categorical column</a:t>
            </a:r>
          </a:p>
        </p:txBody>
      </p:sp>
    </p:spTree>
    <p:extLst>
      <p:ext uri="{BB962C8B-B14F-4D97-AF65-F5344CB8AC3E}">
        <p14:creationId xmlns:p14="http://schemas.microsoft.com/office/powerpoint/2010/main" val="368536916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a:extLst>
            <a:ext uri="{FF2B5EF4-FFF2-40B4-BE49-F238E27FC236}">
              <a16:creationId xmlns:a16="http://schemas.microsoft.com/office/drawing/2014/main" id="{C8EB8321-EF67-DC18-38A8-8A2C90FF1E66}"/>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C7457565-B3AC-05DE-B78A-32FBD7C9CD63}"/>
              </a:ext>
            </a:extLst>
          </p:cNvPr>
          <p:cNvGrpSpPr/>
          <p:nvPr/>
        </p:nvGrpSpPr>
        <p:grpSpPr>
          <a:xfrm>
            <a:off x="0" y="0"/>
            <a:ext cx="18288000" cy="10287000"/>
            <a:chOff x="0" y="0"/>
            <a:chExt cx="24384000" cy="13716000"/>
          </a:xfrm>
        </p:grpSpPr>
        <p:sp>
          <p:nvSpPr>
            <p:cNvPr id="3" name="Freeform 3">
              <a:extLst>
                <a:ext uri="{FF2B5EF4-FFF2-40B4-BE49-F238E27FC236}">
                  <a16:creationId xmlns:a16="http://schemas.microsoft.com/office/drawing/2014/main" id="{3F88DFEC-4635-E2C6-D36E-C30A47B4B9D1}"/>
                </a:ext>
              </a:extLst>
            </p:cNvPr>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close/>
                </a:path>
              </a:pathLst>
            </a:custGeom>
            <a:solidFill>
              <a:srgbClr val="50738C"/>
            </a:solidFill>
          </p:spPr>
          <p:txBody>
            <a:bodyPr/>
            <a:lstStyle/>
            <a:p>
              <a:endParaRPr lang="en-US"/>
            </a:p>
          </p:txBody>
        </p:sp>
      </p:grpSp>
      <p:grpSp>
        <p:nvGrpSpPr>
          <p:cNvPr id="4" name="Group 4">
            <a:extLst>
              <a:ext uri="{FF2B5EF4-FFF2-40B4-BE49-F238E27FC236}">
                <a16:creationId xmlns:a16="http://schemas.microsoft.com/office/drawing/2014/main" id="{2E04AECE-09AA-6748-D21A-CC12B9084E9F}"/>
              </a:ext>
            </a:extLst>
          </p:cNvPr>
          <p:cNvGrpSpPr/>
          <p:nvPr/>
        </p:nvGrpSpPr>
        <p:grpSpPr>
          <a:xfrm>
            <a:off x="29028" y="-19050"/>
            <a:ext cx="18288000" cy="10287000"/>
            <a:chOff x="0" y="0"/>
            <a:chExt cx="24384000" cy="13716000"/>
          </a:xfrm>
        </p:grpSpPr>
        <p:sp>
          <p:nvSpPr>
            <p:cNvPr id="5" name="Freeform 5">
              <a:extLst>
                <a:ext uri="{FF2B5EF4-FFF2-40B4-BE49-F238E27FC236}">
                  <a16:creationId xmlns:a16="http://schemas.microsoft.com/office/drawing/2014/main" id="{CEB1F7BF-D7EF-DA22-71E6-D145438E0430}"/>
                </a:ext>
              </a:extLst>
            </p:cNvPr>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close/>
                </a:path>
              </a:pathLst>
            </a:custGeom>
            <a:solidFill>
              <a:srgbClr val="FFFCF5"/>
            </a:solidFill>
          </p:spPr>
          <p:txBody>
            <a:bodyPr/>
            <a:lstStyle/>
            <a:p>
              <a:endParaRPr lang="en-US"/>
            </a:p>
          </p:txBody>
        </p:sp>
      </p:grpSp>
      <p:sp>
        <p:nvSpPr>
          <p:cNvPr id="10" name="TextBox 10">
            <a:extLst>
              <a:ext uri="{FF2B5EF4-FFF2-40B4-BE49-F238E27FC236}">
                <a16:creationId xmlns:a16="http://schemas.microsoft.com/office/drawing/2014/main" id="{C4DAC05A-2E23-F4C3-604B-C35C66C9E83D}"/>
              </a:ext>
            </a:extLst>
          </p:cNvPr>
          <p:cNvSpPr txBox="1"/>
          <p:nvPr/>
        </p:nvSpPr>
        <p:spPr>
          <a:xfrm>
            <a:off x="600353" y="115389"/>
            <a:ext cx="14465475" cy="3759940"/>
          </a:xfrm>
          <a:prstGeom prst="rect">
            <a:avLst/>
          </a:prstGeom>
        </p:spPr>
        <p:txBody>
          <a:bodyPr wrap="square" lIns="0" tIns="0" rIns="0" bIns="0" rtlCol="0" anchor="t">
            <a:spAutoFit/>
          </a:bodyPr>
          <a:lstStyle/>
          <a:p>
            <a:pPr algn="l">
              <a:lnSpc>
                <a:spcPts val="5990"/>
              </a:lnSpc>
            </a:pPr>
            <a:r>
              <a:rPr lang="en-US" sz="3600" b="1" dirty="0">
                <a:solidFill>
                  <a:srgbClr val="124E73"/>
                </a:solidFill>
                <a:latin typeface="Museo Moderno Medium"/>
                <a:ea typeface="Museo Moderno Medium"/>
                <a:cs typeface="Museo Moderno Medium"/>
                <a:sym typeface="Museo Moderno Medium"/>
              </a:rPr>
              <a:t>Outliers:</a:t>
            </a:r>
          </a:p>
          <a:p>
            <a:pPr marL="742950" indent="-742950" algn="l">
              <a:lnSpc>
                <a:spcPts val="5990"/>
              </a:lnSpc>
              <a:buFont typeface="+mj-lt"/>
              <a:buAutoNum type="arabicPeriod"/>
            </a:pPr>
            <a:r>
              <a:rPr lang="en-US" sz="3600" b="1" dirty="0">
                <a:solidFill>
                  <a:srgbClr val="124E73"/>
                </a:solidFill>
                <a:latin typeface="Museo Moderno Medium"/>
                <a:ea typeface="Museo Moderno Medium"/>
                <a:cs typeface="Museo Moderno Medium"/>
                <a:sym typeface="Museo Moderno Medium"/>
              </a:rPr>
              <a:t>We found no outliers for Quantity, Unit  price and items in cart</a:t>
            </a:r>
          </a:p>
          <a:p>
            <a:pPr marL="742950" indent="-742950" algn="l">
              <a:lnSpc>
                <a:spcPts val="5990"/>
              </a:lnSpc>
              <a:buFont typeface="+mj-lt"/>
              <a:buAutoNum type="arabicPeriod"/>
            </a:pPr>
            <a:r>
              <a:rPr lang="en-US" sz="3600" b="1" dirty="0">
                <a:solidFill>
                  <a:srgbClr val="124E73"/>
                </a:solidFill>
                <a:latin typeface="Museo Moderno Medium"/>
                <a:ea typeface="Museo Moderno Medium"/>
                <a:cs typeface="Museo Moderno Medium"/>
                <a:sym typeface="Museo Moderno Medium"/>
              </a:rPr>
              <a:t>We found 8 outliers for total price for the following orders</a:t>
            </a:r>
          </a:p>
          <a:p>
            <a:pPr algn="l">
              <a:lnSpc>
                <a:spcPts val="5990"/>
              </a:lnSpc>
            </a:pPr>
            <a:endParaRPr lang="en-US" sz="3600" b="1" dirty="0">
              <a:solidFill>
                <a:srgbClr val="124E73"/>
              </a:solidFill>
              <a:latin typeface="Museo Moderno Medium"/>
              <a:ea typeface="Museo Moderno Medium"/>
              <a:cs typeface="Museo Moderno Medium"/>
              <a:sym typeface="Museo Moderno Medium"/>
            </a:endParaRPr>
          </a:p>
          <a:p>
            <a:pPr algn="l">
              <a:lnSpc>
                <a:spcPts val="5990"/>
              </a:lnSpc>
            </a:pPr>
            <a:endParaRPr lang="en-US" sz="3600" b="1" dirty="0">
              <a:solidFill>
                <a:srgbClr val="124E73"/>
              </a:solidFill>
              <a:latin typeface="Museo Moderno Medium"/>
              <a:ea typeface="Museo Moderno Medium"/>
              <a:cs typeface="Museo Moderno Medium"/>
              <a:sym typeface="Museo Moderno Medium"/>
            </a:endParaRPr>
          </a:p>
        </p:txBody>
      </p:sp>
      <p:graphicFrame>
        <p:nvGraphicFramePr>
          <p:cNvPr id="15" name="Table 14">
            <a:extLst>
              <a:ext uri="{FF2B5EF4-FFF2-40B4-BE49-F238E27FC236}">
                <a16:creationId xmlns:a16="http://schemas.microsoft.com/office/drawing/2014/main" id="{3C6A2FBA-4D08-E97C-B9F2-67840580B40E}"/>
              </a:ext>
            </a:extLst>
          </p:cNvPr>
          <p:cNvGraphicFramePr>
            <a:graphicFrameLocks noGrp="1"/>
          </p:cNvGraphicFramePr>
          <p:nvPr>
            <p:extLst>
              <p:ext uri="{D42A27DB-BD31-4B8C-83A1-F6EECF244321}">
                <p14:modId xmlns:p14="http://schemas.microsoft.com/office/powerpoint/2010/main" val="3689881110"/>
              </p:ext>
            </p:extLst>
          </p:nvPr>
        </p:nvGraphicFramePr>
        <p:xfrm>
          <a:off x="1352550" y="2527678"/>
          <a:ext cx="13713278" cy="3291840"/>
        </p:xfrm>
        <a:graphic>
          <a:graphicData uri="http://schemas.openxmlformats.org/drawingml/2006/table">
            <a:tbl>
              <a:tblPr firstRow="1" bandRow="1">
                <a:tableStyleId>{5C22544A-7EE6-4342-B048-85BDC9FD1C3A}</a:tableStyleId>
              </a:tblPr>
              <a:tblGrid>
                <a:gridCol w="6856639">
                  <a:extLst>
                    <a:ext uri="{9D8B030D-6E8A-4147-A177-3AD203B41FA5}">
                      <a16:colId xmlns:a16="http://schemas.microsoft.com/office/drawing/2014/main" val="928931106"/>
                    </a:ext>
                  </a:extLst>
                </a:gridCol>
                <a:gridCol w="6856639">
                  <a:extLst>
                    <a:ext uri="{9D8B030D-6E8A-4147-A177-3AD203B41FA5}">
                      <a16:colId xmlns:a16="http://schemas.microsoft.com/office/drawing/2014/main" val="2330257669"/>
                    </a:ext>
                  </a:extLst>
                </a:gridCol>
              </a:tblGrid>
              <a:tr h="288744">
                <a:tc>
                  <a:txBody>
                    <a:bodyPr/>
                    <a:lstStyle/>
                    <a:p>
                      <a:r>
                        <a:rPr lang="en-US" sz="1800" b="1" dirty="0">
                          <a:solidFill>
                            <a:schemeClr val="bg1"/>
                          </a:solidFill>
                          <a:latin typeface="+mn-lt"/>
                          <a:cs typeface="Museo Moderno Medium"/>
                          <a:sym typeface="Museo Moderno Medium"/>
                        </a:rPr>
                        <a:t>Order Id</a:t>
                      </a:r>
                      <a:endParaRPr lang="en-US" dirty="0">
                        <a:solidFill>
                          <a:schemeClr val="bg1"/>
                        </a:solidFill>
                        <a:latin typeface="+mn-lt"/>
                      </a:endParaRPr>
                    </a:p>
                  </a:txBody>
                  <a:tcPr>
                    <a:solidFill>
                      <a:schemeClr val="accent5">
                        <a:lumMod val="75000"/>
                      </a:schemeClr>
                    </a:solidFill>
                  </a:tcPr>
                </a:tc>
                <a:tc>
                  <a:txBody>
                    <a:bodyPr/>
                    <a:lstStyle/>
                    <a:p>
                      <a:r>
                        <a:rPr lang="en-US" sz="1800" b="1" dirty="0">
                          <a:solidFill>
                            <a:schemeClr val="bg1"/>
                          </a:solidFill>
                          <a:latin typeface="+mn-lt"/>
                          <a:cs typeface="Museo Moderno Medium"/>
                          <a:sym typeface="Museo Moderno Medium"/>
                        </a:rPr>
                        <a:t>Total price</a:t>
                      </a:r>
                      <a:endParaRPr lang="en-US" dirty="0">
                        <a:solidFill>
                          <a:schemeClr val="bg1"/>
                        </a:solidFill>
                        <a:latin typeface="+mn-lt"/>
                      </a:endParaRPr>
                    </a:p>
                  </a:txBody>
                  <a:tcPr>
                    <a:solidFill>
                      <a:schemeClr val="accent5">
                        <a:lumMod val="75000"/>
                      </a:schemeClr>
                    </a:solidFill>
                  </a:tcPr>
                </a:tc>
                <a:extLst>
                  <a:ext uri="{0D108BD9-81ED-4DB2-BD59-A6C34878D82A}">
                    <a16:rowId xmlns:a16="http://schemas.microsoft.com/office/drawing/2014/main" val="2514011942"/>
                  </a:ext>
                </a:extLst>
              </a:tr>
              <a:tr h="288744">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b="0" i="0" kern="1200" dirty="0">
                          <a:solidFill>
                            <a:schemeClr val="dk1"/>
                          </a:solidFill>
                          <a:effectLst/>
                          <a:latin typeface="+mn-lt"/>
                          <a:ea typeface="+mn-ea"/>
                          <a:cs typeface="+mn-cs"/>
                        </a:rPr>
                        <a:t>ORD200107</a:t>
                      </a:r>
                    </a:p>
                  </a:txBody>
                  <a:tcPr>
                    <a:solidFill>
                      <a:schemeClr val="accent5">
                        <a:lumMod val="75000"/>
                      </a:schemeClr>
                    </a:solidFill>
                  </a:tcPr>
                </a:tc>
                <a:tc>
                  <a:txBody>
                    <a:bodyPr/>
                    <a:lstStyle/>
                    <a:p>
                      <a:r>
                        <a:rPr lang="en-US" dirty="0"/>
                        <a:t>3353.75</a:t>
                      </a:r>
                    </a:p>
                  </a:txBody>
                  <a:tcPr>
                    <a:solidFill>
                      <a:schemeClr val="accent5">
                        <a:lumMod val="75000"/>
                      </a:schemeClr>
                    </a:solidFill>
                  </a:tcPr>
                </a:tc>
                <a:extLst>
                  <a:ext uri="{0D108BD9-81ED-4DB2-BD59-A6C34878D82A}">
                    <a16:rowId xmlns:a16="http://schemas.microsoft.com/office/drawing/2014/main" val="1153215251"/>
                  </a:ext>
                </a:extLst>
              </a:tr>
              <a:tr h="288744">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b="0" i="0" kern="1200" dirty="0">
                          <a:solidFill>
                            <a:schemeClr val="dk1"/>
                          </a:solidFill>
                          <a:effectLst/>
                          <a:latin typeface="+mn-lt"/>
                          <a:ea typeface="+mn-ea"/>
                          <a:cs typeface="+mn-cs"/>
                        </a:rPr>
                        <a:t>ORD200326</a:t>
                      </a:r>
                    </a:p>
                  </a:txBody>
                  <a:tcPr>
                    <a:solidFill>
                      <a:schemeClr val="accent5">
                        <a:lumMod val="75000"/>
                      </a:schemeClr>
                    </a:solidFill>
                  </a:tcPr>
                </a:tc>
                <a:tc>
                  <a:txBody>
                    <a:bodyPr/>
                    <a:lstStyle/>
                    <a:p>
                      <a:r>
                        <a:rPr lang="en-US" dirty="0"/>
                        <a:t>3352.4</a:t>
                      </a:r>
                    </a:p>
                  </a:txBody>
                  <a:tcPr>
                    <a:solidFill>
                      <a:schemeClr val="accent5">
                        <a:lumMod val="75000"/>
                      </a:schemeClr>
                    </a:solidFill>
                  </a:tcPr>
                </a:tc>
                <a:extLst>
                  <a:ext uri="{0D108BD9-81ED-4DB2-BD59-A6C34878D82A}">
                    <a16:rowId xmlns:a16="http://schemas.microsoft.com/office/drawing/2014/main" val="2657129798"/>
                  </a:ext>
                </a:extLst>
              </a:tr>
              <a:tr h="288744">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b="0" i="0" kern="1200" dirty="0">
                          <a:solidFill>
                            <a:schemeClr val="dk1"/>
                          </a:solidFill>
                          <a:effectLst/>
                          <a:latin typeface="+mn-lt"/>
                          <a:ea typeface="+mn-ea"/>
                          <a:cs typeface="+mn-cs"/>
                        </a:rPr>
                        <a:t>ORD200328</a:t>
                      </a:r>
                    </a:p>
                  </a:txBody>
                  <a:tcPr>
                    <a:solidFill>
                      <a:schemeClr val="accent5">
                        <a:lumMod val="75000"/>
                      </a:schemeClr>
                    </a:solidFill>
                  </a:tcPr>
                </a:tc>
                <a:tc>
                  <a:txBody>
                    <a:bodyPr/>
                    <a:lstStyle/>
                    <a:p>
                      <a:r>
                        <a:rPr lang="en-US" dirty="0"/>
                        <a:t>3370.2</a:t>
                      </a:r>
                    </a:p>
                  </a:txBody>
                  <a:tcPr>
                    <a:solidFill>
                      <a:schemeClr val="accent5">
                        <a:lumMod val="75000"/>
                      </a:schemeClr>
                    </a:solidFill>
                  </a:tcPr>
                </a:tc>
                <a:extLst>
                  <a:ext uri="{0D108BD9-81ED-4DB2-BD59-A6C34878D82A}">
                    <a16:rowId xmlns:a16="http://schemas.microsoft.com/office/drawing/2014/main" val="3349445249"/>
                  </a:ext>
                </a:extLst>
              </a:tr>
              <a:tr h="288744">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b="0" i="0" kern="1200" dirty="0">
                          <a:solidFill>
                            <a:schemeClr val="dk1"/>
                          </a:solidFill>
                          <a:effectLst/>
                          <a:latin typeface="+mn-lt"/>
                          <a:ea typeface="+mn-ea"/>
                          <a:cs typeface="+mn-cs"/>
                        </a:rPr>
                        <a:t>ORD200469</a:t>
                      </a:r>
                    </a:p>
                  </a:txBody>
                  <a:tcPr>
                    <a:solidFill>
                      <a:schemeClr val="accent5">
                        <a:lumMod val="75000"/>
                      </a:schemeClr>
                    </a:solidFill>
                  </a:tcPr>
                </a:tc>
                <a:tc>
                  <a:txBody>
                    <a:bodyPr/>
                    <a:lstStyle/>
                    <a:p>
                      <a:r>
                        <a:rPr lang="en-US" dirty="0"/>
                        <a:t>3384.9</a:t>
                      </a:r>
                    </a:p>
                  </a:txBody>
                  <a:tcPr>
                    <a:solidFill>
                      <a:schemeClr val="accent5">
                        <a:lumMod val="75000"/>
                      </a:schemeClr>
                    </a:solidFill>
                  </a:tcPr>
                </a:tc>
                <a:extLst>
                  <a:ext uri="{0D108BD9-81ED-4DB2-BD59-A6C34878D82A}">
                    <a16:rowId xmlns:a16="http://schemas.microsoft.com/office/drawing/2014/main" val="2262693346"/>
                  </a:ext>
                </a:extLst>
              </a:tr>
              <a:tr h="288744">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b="0" i="0" kern="1200" dirty="0">
                          <a:solidFill>
                            <a:schemeClr val="dk1"/>
                          </a:solidFill>
                          <a:effectLst/>
                          <a:latin typeface="+mn-lt"/>
                          <a:ea typeface="+mn-ea"/>
                          <a:cs typeface="+mn-cs"/>
                        </a:rPr>
                        <a:t>ORD200632</a:t>
                      </a:r>
                    </a:p>
                  </a:txBody>
                  <a:tcPr>
                    <a:solidFill>
                      <a:schemeClr val="accent5">
                        <a:lumMod val="75000"/>
                      </a:schemeClr>
                    </a:solidFill>
                  </a:tcPr>
                </a:tc>
                <a:tc>
                  <a:txBody>
                    <a:bodyPr/>
                    <a:lstStyle/>
                    <a:p>
                      <a:r>
                        <a:rPr lang="en-US" dirty="0"/>
                        <a:t>3390.8</a:t>
                      </a:r>
                    </a:p>
                  </a:txBody>
                  <a:tcPr>
                    <a:solidFill>
                      <a:schemeClr val="accent5">
                        <a:lumMod val="75000"/>
                      </a:schemeClr>
                    </a:solidFill>
                  </a:tcPr>
                </a:tc>
                <a:extLst>
                  <a:ext uri="{0D108BD9-81ED-4DB2-BD59-A6C34878D82A}">
                    <a16:rowId xmlns:a16="http://schemas.microsoft.com/office/drawing/2014/main" val="2986663678"/>
                  </a:ext>
                </a:extLst>
              </a:tr>
              <a:tr h="288744">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b="0" i="0" kern="1200" dirty="0">
                          <a:solidFill>
                            <a:schemeClr val="dk1"/>
                          </a:solidFill>
                          <a:effectLst/>
                          <a:latin typeface="+mn-lt"/>
                          <a:ea typeface="+mn-ea"/>
                          <a:cs typeface="+mn-cs"/>
                        </a:rPr>
                        <a:t>ORD200789</a:t>
                      </a:r>
                    </a:p>
                  </a:txBody>
                  <a:tcPr>
                    <a:solidFill>
                      <a:schemeClr val="accent5">
                        <a:lumMod val="75000"/>
                      </a:schemeClr>
                    </a:solidFill>
                  </a:tcPr>
                </a:tc>
                <a:tc>
                  <a:txBody>
                    <a:bodyPr/>
                    <a:lstStyle/>
                    <a:p>
                      <a:r>
                        <a:rPr lang="en-US" dirty="0"/>
                        <a:t>3456.4</a:t>
                      </a:r>
                    </a:p>
                  </a:txBody>
                  <a:tcPr>
                    <a:solidFill>
                      <a:schemeClr val="accent5">
                        <a:lumMod val="75000"/>
                      </a:schemeClr>
                    </a:solidFill>
                  </a:tcPr>
                </a:tc>
                <a:extLst>
                  <a:ext uri="{0D108BD9-81ED-4DB2-BD59-A6C34878D82A}">
                    <a16:rowId xmlns:a16="http://schemas.microsoft.com/office/drawing/2014/main" val="1179037900"/>
                  </a:ext>
                </a:extLst>
              </a:tr>
              <a:tr h="288744">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b="0" i="0" kern="1200" dirty="0">
                          <a:solidFill>
                            <a:schemeClr val="dk1"/>
                          </a:solidFill>
                          <a:effectLst/>
                          <a:latin typeface="+mn-lt"/>
                          <a:ea typeface="+mn-ea"/>
                          <a:cs typeface="+mn-cs"/>
                        </a:rPr>
                        <a:t>ORD201065</a:t>
                      </a:r>
                    </a:p>
                  </a:txBody>
                  <a:tcPr>
                    <a:solidFill>
                      <a:schemeClr val="accent5">
                        <a:lumMod val="75000"/>
                      </a:schemeClr>
                    </a:solidFill>
                  </a:tcPr>
                </a:tc>
                <a:tc>
                  <a:txBody>
                    <a:bodyPr/>
                    <a:lstStyle/>
                    <a:p>
                      <a:r>
                        <a:rPr lang="en-US" dirty="0"/>
                        <a:t>3334</a:t>
                      </a:r>
                    </a:p>
                  </a:txBody>
                  <a:tcPr>
                    <a:solidFill>
                      <a:schemeClr val="accent5">
                        <a:lumMod val="75000"/>
                      </a:schemeClr>
                    </a:solidFill>
                  </a:tcPr>
                </a:tc>
                <a:extLst>
                  <a:ext uri="{0D108BD9-81ED-4DB2-BD59-A6C34878D82A}">
                    <a16:rowId xmlns:a16="http://schemas.microsoft.com/office/drawing/2014/main" val="2483595743"/>
                  </a:ext>
                </a:extLst>
              </a:tr>
              <a:tr h="288744">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b="0" i="0" kern="1200" dirty="0">
                          <a:solidFill>
                            <a:schemeClr val="dk1"/>
                          </a:solidFill>
                          <a:effectLst/>
                          <a:latin typeface="+mn-lt"/>
                          <a:ea typeface="+mn-ea"/>
                          <a:cs typeface="+mn-cs"/>
                        </a:rPr>
                        <a:t>ORD201122</a:t>
                      </a:r>
                    </a:p>
                  </a:txBody>
                  <a:tcPr>
                    <a:solidFill>
                      <a:schemeClr val="accent5">
                        <a:lumMod val="75000"/>
                      </a:schemeClr>
                    </a:solidFill>
                  </a:tcPr>
                </a:tc>
                <a:tc>
                  <a:txBody>
                    <a:bodyPr/>
                    <a:lstStyle/>
                    <a:p>
                      <a:r>
                        <a:rPr lang="en-US" dirty="0"/>
                        <a:t>3390.95</a:t>
                      </a:r>
                    </a:p>
                  </a:txBody>
                  <a:tcPr>
                    <a:solidFill>
                      <a:schemeClr val="accent5">
                        <a:lumMod val="75000"/>
                      </a:schemeClr>
                    </a:solidFill>
                  </a:tcPr>
                </a:tc>
                <a:extLst>
                  <a:ext uri="{0D108BD9-81ED-4DB2-BD59-A6C34878D82A}">
                    <a16:rowId xmlns:a16="http://schemas.microsoft.com/office/drawing/2014/main" val="2408963837"/>
                  </a:ext>
                </a:extLst>
              </a:tr>
            </a:tbl>
          </a:graphicData>
        </a:graphic>
      </p:graphicFrame>
      <p:pic>
        <p:nvPicPr>
          <p:cNvPr id="6" name="Picture 5">
            <a:extLst>
              <a:ext uri="{FF2B5EF4-FFF2-40B4-BE49-F238E27FC236}">
                <a16:creationId xmlns:a16="http://schemas.microsoft.com/office/drawing/2014/main" id="{95DFBCDC-A325-8CFC-C20C-8CB77590E9F0}"/>
              </a:ext>
            </a:extLst>
          </p:cNvPr>
          <p:cNvPicPr>
            <a:picLocks noChangeAspect="1"/>
          </p:cNvPicPr>
          <p:nvPr/>
        </p:nvPicPr>
        <p:blipFill>
          <a:blip r:embed="rId3"/>
          <a:stretch>
            <a:fillRect/>
          </a:stretch>
        </p:blipFill>
        <p:spPr>
          <a:xfrm>
            <a:off x="1352550" y="6078151"/>
            <a:ext cx="13849350" cy="3950216"/>
          </a:xfrm>
          <a:prstGeom prst="rect">
            <a:avLst/>
          </a:prstGeom>
        </p:spPr>
      </p:pic>
    </p:spTree>
    <p:extLst>
      <p:ext uri="{BB962C8B-B14F-4D97-AF65-F5344CB8AC3E}">
        <p14:creationId xmlns:p14="http://schemas.microsoft.com/office/powerpoint/2010/main" val="215773085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a:extLst>
            <a:ext uri="{FF2B5EF4-FFF2-40B4-BE49-F238E27FC236}">
              <a16:creationId xmlns:a16="http://schemas.microsoft.com/office/drawing/2014/main" id="{56BA6701-95ED-F569-C885-282029CA31C5}"/>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01924164-6D28-ED17-F483-D280D24190F1}"/>
              </a:ext>
            </a:extLst>
          </p:cNvPr>
          <p:cNvGrpSpPr/>
          <p:nvPr/>
        </p:nvGrpSpPr>
        <p:grpSpPr>
          <a:xfrm>
            <a:off x="0" y="0"/>
            <a:ext cx="18288000" cy="10287000"/>
            <a:chOff x="0" y="0"/>
            <a:chExt cx="24384000" cy="13716000"/>
          </a:xfrm>
        </p:grpSpPr>
        <p:sp>
          <p:nvSpPr>
            <p:cNvPr id="3" name="Freeform 3">
              <a:extLst>
                <a:ext uri="{FF2B5EF4-FFF2-40B4-BE49-F238E27FC236}">
                  <a16:creationId xmlns:a16="http://schemas.microsoft.com/office/drawing/2014/main" id="{20A56BE1-7415-224B-F164-28554092798B}"/>
                </a:ext>
              </a:extLst>
            </p:cNvPr>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close/>
                </a:path>
              </a:pathLst>
            </a:custGeom>
            <a:solidFill>
              <a:srgbClr val="50738C"/>
            </a:solidFill>
          </p:spPr>
          <p:txBody>
            <a:bodyPr/>
            <a:lstStyle/>
            <a:p>
              <a:endParaRPr lang="en-US"/>
            </a:p>
          </p:txBody>
        </p:sp>
      </p:grpSp>
      <p:grpSp>
        <p:nvGrpSpPr>
          <p:cNvPr id="4" name="Group 4">
            <a:extLst>
              <a:ext uri="{FF2B5EF4-FFF2-40B4-BE49-F238E27FC236}">
                <a16:creationId xmlns:a16="http://schemas.microsoft.com/office/drawing/2014/main" id="{39F91F79-B7EA-8618-CC0A-832E151E3FBD}"/>
              </a:ext>
            </a:extLst>
          </p:cNvPr>
          <p:cNvGrpSpPr/>
          <p:nvPr/>
        </p:nvGrpSpPr>
        <p:grpSpPr>
          <a:xfrm>
            <a:off x="29028" y="-19050"/>
            <a:ext cx="18288000" cy="10287000"/>
            <a:chOff x="0" y="0"/>
            <a:chExt cx="24384000" cy="13716000"/>
          </a:xfrm>
        </p:grpSpPr>
        <p:sp>
          <p:nvSpPr>
            <p:cNvPr id="5" name="Freeform 5">
              <a:extLst>
                <a:ext uri="{FF2B5EF4-FFF2-40B4-BE49-F238E27FC236}">
                  <a16:creationId xmlns:a16="http://schemas.microsoft.com/office/drawing/2014/main" id="{BF776AA6-3DA9-EBB8-827C-072D36E33809}"/>
                </a:ext>
              </a:extLst>
            </p:cNvPr>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close/>
                </a:path>
              </a:pathLst>
            </a:custGeom>
            <a:solidFill>
              <a:srgbClr val="FFFCF5"/>
            </a:solidFill>
          </p:spPr>
          <p:txBody>
            <a:bodyPr/>
            <a:lstStyle/>
            <a:p>
              <a:endParaRPr lang="en-US"/>
            </a:p>
          </p:txBody>
        </p:sp>
      </p:grpSp>
      <p:sp>
        <p:nvSpPr>
          <p:cNvPr id="10" name="TextBox 10">
            <a:extLst>
              <a:ext uri="{FF2B5EF4-FFF2-40B4-BE49-F238E27FC236}">
                <a16:creationId xmlns:a16="http://schemas.microsoft.com/office/drawing/2014/main" id="{9D7D1FEA-4A42-88AD-1B96-58A787F13B5B}"/>
              </a:ext>
            </a:extLst>
          </p:cNvPr>
          <p:cNvSpPr txBox="1"/>
          <p:nvPr/>
        </p:nvSpPr>
        <p:spPr>
          <a:xfrm>
            <a:off x="745496" y="7880532"/>
            <a:ext cx="14465475" cy="2221057"/>
          </a:xfrm>
          <a:prstGeom prst="rect">
            <a:avLst/>
          </a:prstGeom>
        </p:spPr>
        <p:txBody>
          <a:bodyPr wrap="square" lIns="0" tIns="0" rIns="0" bIns="0" rtlCol="0" anchor="t">
            <a:spAutoFit/>
          </a:bodyPr>
          <a:lstStyle/>
          <a:p>
            <a:pPr algn="l">
              <a:lnSpc>
                <a:spcPts val="5990"/>
              </a:lnSpc>
            </a:pPr>
            <a:r>
              <a:rPr lang="en-US" sz="3600" b="1" dirty="0">
                <a:solidFill>
                  <a:srgbClr val="124E73"/>
                </a:solidFill>
                <a:latin typeface="Museo Moderno Medium"/>
                <a:ea typeface="Museo Moderno Medium"/>
                <a:cs typeface="Museo Moderno Medium"/>
                <a:sym typeface="Museo Moderno Medium"/>
              </a:rPr>
              <a:t>There boxplots gives us same conclusion as last slide in which only total price has outliers</a:t>
            </a:r>
          </a:p>
          <a:p>
            <a:pPr algn="l">
              <a:lnSpc>
                <a:spcPts val="5990"/>
              </a:lnSpc>
            </a:pPr>
            <a:endParaRPr lang="en-US" sz="3600" b="1" dirty="0">
              <a:solidFill>
                <a:srgbClr val="124E73"/>
              </a:solidFill>
              <a:latin typeface="Museo Moderno Medium"/>
              <a:ea typeface="Museo Moderno Medium"/>
              <a:cs typeface="Museo Moderno Medium"/>
              <a:sym typeface="Museo Moderno Medium"/>
            </a:endParaRPr>
          </a:p>
        </p:txBody>
      </p:sp>
      <p:pic>
        <p:nvPicPr>
          <p:cNvPr id="8" name="Picture 7">
            <a:extLst>
              <a:ext uri="{FF2B5EF4-FFF2-40B4-BE49-F238E27FC236}">
                <a16:creationId xmlns:a16="http://schemas.microsoft.com/office/drawing/2014/main" id="{DA39B9DA-2215-1AF4-2E78-73D22B57D04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66058" y="137757"/>
            <a:ext cx="8128001" cy="3711122"/>
          </a:xfrm>
          <a:prstGeom prst="rect">
            <a:avLst/>
          </a:prstGeom>
        </p:spPr>
      </p:pic>
      <p:pic>
        <p:nvPicPr>
          <p:cNvPr id="11" name="Picture 10">
            <a:extLst>
              <a:ext uri="{FF2B5EF4-FFF2-40B4-BE49-F238E27FC236}">
                <a16:creationId xmlns:a16="http://schemas.microsoft.com/office/drawing/2014/main" id="{20689613-8C36-834F-D9B1-7382FCC6F869}"/>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9593942" y="137757"/>
            <a:ext cx="8389257" cy="3740366"/>
          </a:xfrm>
          <a:prstGeom prst="rect">
            <a:avLst/>
          </a:prstGeom>
        </p:spPr>
      </p:pic>
      <p:pic>
        <p:nvPicPr>
          <p:cNvPr id="13" name="Picture 12">
            <a:extLst>
              <a:ext uri="{FF2B5EF4-FFF2-40B4-BE49-F238E27FC236}">
                <a16:creationId xmlns:a16="http://schemas.microsoft.com/office/drawing/2014/main" id="{91AA14DD-4C5F-4B7D-C420-50D8C02FACA5}"/>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9593942" y="3986636"/>
            <a:ext cx="8389256" cy="3378845"/>
          </a:xfrm>
          <a:prstGeom prst="rect">
            <a:avLst/>
          </a:prstGeom>
        </p:spPr>
      </p:pic>
      <p:pic>
        <p:nvPicPr>
          <p:cNvPr id="16" name="Picture 15">
            <a:extLst>
              <a:ext uri="{FF2B5EF4-FFF2-40B4-BE49-F238E27FC236}">
                <a16:creationId xmlns:a16="http://schemas.microsoft.com/office/drawing/2014/main" id="{18FC33E9-767D-9941-2DFD-AB31A3B33F2A}"/>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566058" y="3986636"/>
            <a:ext cx="8128001" cy="3378845"/>
          </a:xfrm>
          <a:prstGeom prst="rect">
            <a:avLst/>
          </a:prstGeom>
        </p:spPr>
      </p:pic>
    </p:spTree>
    <p:extLst>
      <p:ext uri="{BB962C8B-B14F-4D97-AF65-F5344CB8AC3E}">
        <p14:creationId xmlns:p14="http://schemas.microsoft.com/office/powerpoint/2010/main" val="126497763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a:extLst>
            <a:ext uri="{FF2B5EF4-FFF2-40B4-BE49-F238E27FC236}">
              <a16:creationId xmlns:a16="http://schemas.microsoft.com/office/drawing/2014/main" id="{048185CB-4834-0CDE-E7D6-15B02F63485A}"/>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88C766C8-816F-FDAF-1E8D-77E0A7702F8D}"/>
              </a:ext>
            </a:extLst>
          </p:cNvPr>
          <p:cNvGrpSpPr/>
          <p:nvPr/>
        </p:nvGrpSpPr>
        <p:grpSpPr>
          <a:xfrm>
            <a:off x="0" y="0"/>
            <a:ext cx="18288000" cy="10287000"/>
            <a:chOff x="0" y="0"/>
            <a:chExt cx="24384000" cy="13716000"/>
          </a:xfrm>
        </p:grpSpPr>
        <p:sp>
          <p:nvSpPr>
            <p:cNvPr id="3" name="Freeform 3">
              <a:extLst>
                <a:ext uri="{FF2B5EF4-FFF2-40B4-BE49-F238E27FC236}">
                  <a16:creationId xmlns:a16="http://schemas.microsoft.com/office/drawing/2014/main" id="{D642E5BD-60BF-6E25-656D-FDA8C7677160}"/>
                </a:ext>
              </a:extLst>
            </p:cNvPr>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close/>
                </a:path>
              </a:pathLst>
            </a:custGeom>
            <a:solidFill>
              <a:srgbClr val="50738C"/>
            </a:solidFill>
          </p:spPr>
          <p:txBody>
            <a:bodyPr/>
            <a:lstStyle/>
            <a:p>
              <a:endParaRPr lang="en-US"/>
            </a:p>
          </p:txBody>
        </p:sp>
      </p:grpSp>
      <p:grpSp>
        <p:nvGrpSpPr>
          <p:cNvPr id="4" name="Group 4">
            <a:extLst>
              <a:ext uri="{FF2B5EF4-FFF2-40B4-BE49-F238E27FC236}">
                <a16:creationId xmlns:a16="http://schemas.microsoft.com/office/drawing/2014/main" id="{BF95F490-E0F2-7D4B-C06A-A229409738FE}"/>
              </a:ext>
            </a:extLst>
          </p:cNvPr>
          <p:cNvGrpSpPr/>
          <p:nvPr/>
        </p:nvGrpSpPr>
        <p:grpSpPr>
          <a:xfrm>
            <a:off x="29028" y="-19050"/>
            <a:ext cx="18288000" cy="10287000"/>
            <a:chOff x="0" y="0"/>
            <a:chExt cx="24384000" cy="13716000"/>
          </a:xfrm>
        </p:grpSpPr>
        <p:sp>
          <p:nvSpPr>
            <p:cNvPr id="5" name="Freeform 5">
              <a:extLst>
                <a:ext uri="{FF2B5EF4-FFF2-40B4-BE49-F238E27FC236}">
                  <a16:creationId xmlns:a16="http://schemas.microsoft.com/office/drawing/2014/main" id="{ABE445B9-C3C1-58E9-C0C2-2A187487288B}"/>
                </a:ext>
              </a:extLst>
            </p:cNvPr>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close/>
                </a:path>
              </a:pathLst>
            </a:custGeom>
            <a:solidFill>
              <a:srgbClr val="FFFCF5"/>
            </a:solidFill>
          </p:spPr>
          <p:txBody>
            <a:bodyPr/>
            <a:lstStyle/>
            <a:p>
              <a:endParaRPr lang="en-US"/>
            </a:p>
          </p:txBody>
        </p:sp>
      </p:grpSp>
      <p:sp>
        <p:nvSpPr>
          <p:cNvPr id="10" name="TextBox 10">
            <a:extLst>
              <a:ext uri="{FF2B5EF4-FFF2-40B4-BE49-F238E27FC236}">
                <a16:creationId xmlns:a16="http://schemas.microsoft.com/office/drawing/2014/main" id="{ADA294F5-7B87-8518-87AB-A33F26439D7D}"/>
              </a:ext>
            </a:extLst>
          </p:cNvPr>
          <p:cNvSpPr txBox="1"/>
          <p:nvPr/>
        </p:nvSpPr>
        <p:spPr>
          <a:xfrm>
            <a:off x="745496" y="7880532"/>
            <a:ext cx="14465475" cy="2221057"/>
          </a:xfrm>
          <a:prstGeom prst="rect">
            <a:avLst/>
          </a:prstGeom>
        </p:spPr>
        <p:txBody>
          <a:bodyPr wrap="square" lIns="0" tIns="0" rIns="0" bIns="0" rtlCol="0" anchor="t">
            <a:spAutoFit/>
          </a:bodyPr>
          <a:lstStyle/>
          <a:p>
            <a:pPr>
              <a:lnSpc>
                <a:spcPts val="5990"/>
              </a:lnSpc>
            </a:pPr>
            <a:r>
              <a:rPr lang="en-US" sz="3600" b="1" dirty="0">
                <a:solidFill>
                  <a:srgbClr val="124E73"/>
                </a:solidFill>
                <a:latin typeface="Museo Moderno Medium"/>
                <a:ea typeface="Museo Moderno Medium"/>
                <a:cs typeface="Museo Moderno Medium"/>
                <a:sym typeface="Museo Moderno Medium"/>
              </a:rPr>
              <a:t>These four figures are boxplots for total price divided among several categories which shows that the outliers for total price for all our categories</a:t>
            </a:r>
          </a:p>
        </p:txBody>
      </p:sp>
      <p:pic>
        <p:nvPicPr>
          <p:cNvPr id="7" name="Picture 6">
            <a:extLst>
              <a:ext uri="{FF2B5EF4-FFF2-40B4-BE49-F238E27FC236}">
                <a16:creationId xmlns:a16="http://schemas.microsoft.com/office/drawing/2014/main" id="{45D226AA-6941-72FF-311B-A06D2459A26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988789" y="249288"/>
            <a:ext cx="8147671" cy="3234142"/>
          </a:xfrm>
          <a:prstGeom prst="rect">
            <a:avLst/>
          </a:prstGeom>
        </p:spPr>
      </p:pic>
      <p:pic>
        <p:nvPicPr>
          <p:cNvPr id="12" name="Picture 11">
            <a:extLst>
              <a:ext uri="{FF2B5EF4-FFF2-40B4-BE49-F238E27FC236}">
                <a16:creationId xmlns:a16="http://schemas.microsoft.com/office/drawing/2014/main" id="{878A78E8-F06B-0866-1233-9DA0ED01717F}"/>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49999" y="3607812"/>
            <a:ext cx="8355372" cy="3678359"/>
          </a:xfrm>
          <a:prstGeom prst="rect">
            <a:avLst/>
          </a:prstGeom>
        </p:spPr>
      </p:pic>
      <p:pic>
        <p:nvPicPr>
          <p:cNvPr id="15" name="Picture 14">
            <a:extLst>
              <a:ext uri="{FF2B5EF4-FFF2-40B4-BE49-F238E27FC236}">
                <a16:creationId xmlns:a16="http://schemas.microsoft.com/office/drawing/2014/main" id="{F909946B-BCE4-1CD8-552B-8C994E4F32A0}"/>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8988789" y="3565835"/>
            <a:ext cx="8355372" cy="3720336"/>
          </a:xfrm>
          <a:prstGeom prst="rect">
            <a:avLst/>
          </a:prstGeom>
        </p:spPr>
      </p:pic>
      <p:pic>
        <p:nvPicPr>
          <p:cNvPr id="18" name="Picture 17">
            <a:extLst>
              <a:ext uri="{FF2B5EF4-FFF2-40B4-BE49-F238E27FC236}">
                <a16:creationId xmlns:a16="http://schemas.microsoft.com/office/drawing/2014/main" id="{843F8775-871D-78E2-863E-4B10B43C1C14}"/>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149999" y="249287"/>
            <a:ext cx="8355372" cy="3234142"/>
          </a:xfrm>
          <a:prstGeom prst="rect">
            <a:avLst/>
          </a:prstGeom>
        </p:spPr>
      </p:pic>
    </p:spTree>
    <p:extLst>
      <p:ext uri="{BB962C8B-B14F-4D97-AF65-F5344CB8AC3E}">
        <p14:creationId xmlns:p14="http://schemas.microsoft.com/office/powerpoint/2010/main" val="154661945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a:extLst>
            <a:ext uri="{FF2B5EF4-FFF2-40B4-BE49-F238E27FC236}">
              <a16:creationId xmlns:a16="http://schemas.microsoft.com/office/drawing/2014/main" id="{E658C331-272A-2A9F-2410-35A4D0F30B6F}"/>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BF1A24F6-E858-9048-06D3-F2FC81DDCF86}"/>
              </a:ext>
            </a:extLst>
          </p:cNvPr>
          <p:cNvGrpSpPr/>
          <p:nvPr/>
        </p:nvGrpSpPr>
        <p:grpSpPr>
          <a:xfrm>
            <a:off x="0" y="0"/>
            <a:ext cx="18288000" cy="10287000"/>
            <a:chOff x="0" y="0"/>
            <a:chExt cx="24384000" cy="13716000"/>
          </a:xfrm>
        </p:grpSpPr>
        <p:sp>
          <p:nvSpPr>
            <p:cNvPr id="3" name="Freeform 3">
              <a:extLst>
                <a:ext uri="{FF2B5EF4-FFF2-40B4-BE49-F238E27FC236}">
                  <a16:creationId xmlns:a16="http://schemas.microsoft.com/office/drawing/2014/main" id="{384C92E2-2313-A727-7B90-A752C7D90293}"/>
                </a:ext>
              </a:extLst>
            </p:cNvPr>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close/>
                </a:path>
              </a:pathLst>
            </a:custGeom>
            <a:solidFill>
              <a:srgbClr val="50738C"/>
            </a:solidFill>
          </p:spPr>
          <p:txBody>
            <a:bodyPr/>
            <a:lstStyle/>
            <a:p>
              <a:endParaRPr lang="en-US"/>
            </a:p>
          </p:txBody>
        </p:sp>
      </p:grpSp>
      <p:grpSp>
        <p:nvGrpSpPr>
          <p:cNvPr id="4" name="Group 4">
            <a:extLst>
              <a:ext uri="{FF2B5EF4-FFF2-40B4-BE49-F238E27FC236}">
                <a16:creationId xmlns:a16="http://schemas.microsoft.com/office/drawing/2014/main" id="{AF88F0EF-E185-2DAD-6EEB-7A4B64C091D2}"/>
              </a:ext>
            </a:extLst>
          </p:cNvPr>
          <p:cNvGrpSpPr/>
          <p:nvPr/>
        </p:nvGrpSpPr>
        <p:grpSpPr>
          <a:xfrm>
            <a:off x="29028" y="-19050"/>
            <a:ext cx="18288000" cy="10287000"/>
            <a:chOff x="0" y="0"/>
            <a:chExt cx="24384000" cy="13716000"/>
          </a:xfrm>
        </p:grpSpPr>
        <p:sp>
          <p:nvSpPr>
            <p:cNvPr id="5" name="Freeform 5">
              <a:extLst>
                <a:ext uri="{FF2B5EF4-FFF2-40B4-BE49-F238E27FC236}">
                  <a16:creationId xmlns:a16="http://schemas.microsoft.com/office/drawing/2014/main" id="{2FB63F5D-FAD8-CA06-48BE-362ADF401EE7}"/>
                </a:ext>
              </a:extLst>
            </p:cNvPr>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close/>
                </a:path>
              </a:pathLst>
            </a:custGeom>
            <a:solidFill>
              <a:srgbClr val="FFFCF5"/>
            </a:solidFill>
          </p:spPr>
          <p:txBody>
            <a:bodyPr/>
            <a:lstStyle/>
            <a:p>
              <a:endParaRPr lang="en-US"/>
            </a:p>
          </p:txBody>
        </p:sp>
      </p:grpSp>
      <p:sp>
        <p:nvSpPr>
          <p:cNvPr id="10" name="TextBox 10">
            <a:extLst>
              <a:ext uri="{FF2B5EF4-FFF2-40B4-BE49-F238E27FC236}">
                <a16:creationId xmlns:a16="http://schemas.microsoft.com/office/drawing/2014/main" id="{D56A9B0A-339D-5F56-C1CF-1B73B984EFF8}"/>
              </a:ext>
            </a:extLst>
          </p:cNvPr>
          <p:cNvSpPr txBox="1"/>
          <p:nvPr/>
        </p:nvSpPr>
        <p:spPr>
          <a:xfrm>
            <a:off x="687439" y="7082089"/>
            <a:ext cx="14465475" cy="2221057"/>
          </a:xfrm>
          <a:prstGeom prst="rect">
            <a:avLst/>
          </a:prstGeom>
        </p:spPr>
        <p:txBody>
          <a:bodyPr wrap="square" lIns="0" tIns="0" rIns="0" bIns="0" rtlCol="0" anchor="t">
            <a:spAutoFit/>
          </a:bodyPr>
          <a:lstStyle/>
          <a:p>
            <a:pPr algn="l">
              <a:lnSpc>
                <a:spcPts val="5990"/>
              </a:lnSpc>
            </a:pPr>
            <a:r>
              <a:rPr lang="en-US" sz="3600" b="1" dirty="0">
                <a:solidFill>
                  <a:srgbClr val="124E73"/>
                </a:solidFill>
                <a:latin typeface="Museo Moderno Medium"/>
                <a:ea typeface="Museo Moderno Medium"/>
                <a:cs typeface="Museo Moderno Medium"/>
                <a:sym typeface="Museo Moderno Medium"/>
              </a:rPr>
              <a:t>These four figures are boxplots for items in cart divided among several categories which shows that there no outliers for items in cart for all our categories</a:t>
            </a:r>
          </a:p>
        </p:txBody>
      </p:sp>
      <p:pic>
        <p:nvPicPr>
          <p:cNvPr id="8" name="Picture 7">
            <a:extLst>
              <a:ext uri="{FF2B5EF4-FFF2-40B4-BE49-F238E27FC236}">
                <a16:creationId xmlns:a16="http://schemas.microsoft.com/office/drawing/2014/main" id="{A5AC33C1-ED69-8577-96E4-A4894B238F2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427881" y="3625043"/>
            <a:ext cx="8653948" cy="3174418"/>
          </a:xfrm>
          <a:prstGeom prst="rect">
            <a:avLst/>
          </a:prstGeom>
        </p:spPr>
      </p:pic>
      <p:pic>
        <p:nvPicPr>
          <p:cNvPr id="11" name="Picture 10">
            <a:extLst>
              <a:ext uri="{FF2B5EF4-FFF2-40B4-BE49-F238E27FC236}">
                <a16:creationId xmlns:a16="http://schemas.microsoft.com/office/drawing/2014/main" id="{529E02A1-4408-B880-951B-2960553379B9}"/>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70739" y="3625043"/>
            <a:ext cx="7228114" cy="3174418"/>
          </a:xfrm>
          <a:prstGeom prst="rect">
            <a:avLst/>
          </a:prstGeom>
        </p:spPr>
      </p:pic>
      <p:pic>
        <p:nvPicPr>
          <p:cNvPr id="14" name="Picture 13">
            <a:extLst>
              <a:ext uri="{FF2B5EF4-FFF2-40B4-BE49-F238E27FC236}">
                <a16:creationId xmlns:a16="http://schemas.microsoft.com/office/drawing/2014/main" id="{7513829A-1943-7402-AB85-2BB6AC90248F}"/>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7398853" y="137503"/>
            <a:ext cx="8421718" cy="3350037"/>
          </a:xfrm>
          <a:prstGeom prst="rect">
            <a:avLst/>
          </a:prstGeom>
        </p:spPr>
      </p:pic>
      <p:pic>
        <p:nvPicPr>
          <p:cNvPr id="17" name="Picture 16">
            <a:extLst>
              <a:ext uri="{FF2B5EF4-FFF2-40B4-BE49-F238E27FC236}">
                <a16:creationId xmlns:a16="http://schemas.microsoft.com/office/drawing/2014/main" id="{04F04935-4046-9250-D68B-5C1713F41345}"/>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170739" y="137503"/>
            <a:ext cx="7086403" cy="3350037"/>
          </a:xfrm>
          <a:prstGeom prst="rect">
            <a:avLst/>
          </a:prstGeom>
        </p:spPr>
      </p:pic>
    </p:spTree>
    <p:extLst>
      <p:ext uri="{BB962C8B-B14F-4D97-AF65-F5344CB8AC3E}">
        <p14:creationId xmlns:p14="http://schemas.microsoft.com/office/powerpoint/2010/main" val="376246684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a:extLst>
            <a:ext uri="{FF2B5EF4-FFF2-40B4-BE49-F238E27FC236}">
              <a16:creationId xmlns:a16="http://schemas.microsoft.com/office/drawing/2014/main" id="{774B4B3C-7854-C069-473D-0D9EA07D2722}"/>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EE8B3B47-02AC-6ED0-B55D-5525B99ADD4D}"/>
              </a:ext>
            </a:extLst>
          </p:cNvPr>
          <p:cNvGrpSpPr/>
          <p:nvPr/>
        </p:nvGrpSpPr>
        <p:grpSpPr>
          <a:xfrm>
            <a:off x="0" y="0"/>
            <a:ext cx="18288000" cy="10287000"/>
            <a:chOff x="0" y="0"/>
            <a:chExt cx="24384000" cy="13716000"/>
          </a:xfrm>
        </p:grpSpPr>
        <p:sp>
          <p:nvSpPr>
            <p:cNvPr id="3" name="Freeform 3">
              <a:extLst>
                <a:ext uri="{FF2B5EF4-FFF2-40B4-BE49-F238E27FC236}">
                  <a16:creationId xmlns:a16="http://schemas.microsoft.com/office/drawing/2014/main" id="{0DC0140E-AE80-10D1-D3FD-C08CD8272209}"/>
                </a:ext>
              </a:extLst>
            </p:cNvPr>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close/>
                </a:path>
              </a:pathLst>
            </a:custGeom>
            <a:solidFill>
              <a:srgbClr val="50738C"/>
            </a:solidFill>
          </p:spPr>
          <p:txBody>
            <a:bodyPr/>
            <a:lstStyle/>
            <a:p>
              <a:endParaRPr lang="en-US"/>
            </a:p>
          </p:txBody>
        </p:sp>
      </p:grpSp>
      <p:grpSp>
        <p:nvGrpSpPr>
          <p:cNvPr id="4" name="Group 4">
            <a:extLst>
              <a:ext uri="{FF2B5EF4-FFF2-40B4-BE49-F238E27FC236}">
                <a16:creationId xmlns:a16="http://schemas.microsoft.com/office/drawing/2014/main" id="{C5C4763D-C7FC-F89E-F56E-C1D80E776D8E}"/>
              </a:ext>
            </a:extLst>
          </p:cNvPr>
          <p:cNvGrpSpPr/>
          <p:nvPr/>
        </p:nvGrpSpPr>
        <p:grpSpPr>
          <a:xfrm>
            <a:off x="29028" y="-19050"/>
            <a:ext cx="18288000" cy="10287000"/>
            <a:chOff x="0" y="0"/>
            <a:chExt cx="24384000" cy="13716000"/>
          </a:xfrm>
        </p:grpSpPr>
        <p:sp>
          <p:nvSpPr>
            <p:cNvPr id="5" name="Freeform 5">
              <a:extLst>
                <a:ext uri="{FF2B5EF4-FFF2-40B4-BE49-F238E27FC236}">
                  <a16:creationId xmlns:a16="http://schemas.microsoft.com/office/drawing/2014/main" id="{9C70C9BD-8520-DD9E-9856-7A34A662AE1E}"/>
                </a:ext>
              </a:extLst>
            </p:cNvPr>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close/>
                </a:path>
              </a:pathLst>
            </a:custGeom>
            <a:solidFill>
              <a:srgbClr val="FFFCF5"/>
            </a:solidFill>
          </p:spPr>
          <p:txBody>
            <a:bodyPr/>
            <a:lstStyle/>
            <a:p>
              <a:endParaRPr lang="en-US"/>
            </a:p>
          </p:txBody>
        </p:sp>
      </p:grpSp>
      <p:sp>
        <p:nvSpPr>
          <p:cNvPr id="10" name="TextBox 10">
            <a:extLst>
              <a:ext uri="{FF2B5EF4-FFF2-40B4-BE49-F238E27FC236}">
                <a16:creationId xmlns:a16="http://schemas.microsoft.com/office/drawing/2014/main" id="{5E2079E1-84CB-FA3B-9E7C-1CB3AABEF832}"/>
              </a:ext>
            </a:extLst>
          </p:cNvPr>
          <p:cNvSpPr txBox="1"/>
          <p:nvPr/>
        </p:nvSpPr>
        <p:spPr>
          <a:xfrm>
            <a:off x="745496" y="7880532"/>
            <a:ext cx="14465475" cy="2221057"/>
          </a:xfrm>
          <a:prstGeom prst="rect">
            <a:avLst/>
          </a:prstGeom>
        </p:spPr>
        <p:txBody>
          <a:bodyPr wrap="square" lIns="0" tIns="0" rIns="0" bIns="0" rtlCol="0" anchor="t">
            <a:spAutoFit/>
          </a:bodyPr>
          <a:lstStyle/>
          <a:p>
            <a:pPr>
              <a:lnSpc>
                <a:spcPts val="5990"/>
              </a:lnSpc>
            </a:pPr>
            <a:r>
              <a:rPr lang="en-US" sz="3600" b="1" dirty="0">
                <a:solidFill>
                  <a:srgbClr val="124E73"/>
                </a:solidFill>
                <a:latin typeface="Museo Moderno Medium"/>
                <a:ea typeface="Museo Moderno Medium"/>
                <a:cs typeface="Museo Moderno Medium"/>
                <a:sym typeface="Museo Moderno Medium"/>
              </a:rPr>
              <a:t>These four figures are boxplots for Quantity divided among several categories which shows that there no outliers for Quantity for all our categories</a:t>
            </a:r>
          </a:p>
        </p:txBody>
      </p:sp>
      <p:pic>
        <p:nvPicPr>
          <p:cNvPr id="8" name="Picture 7">
            <a:extLst>
              <a:ext uri="{FF2B5EF4-FFF2-40B4-BE49-F238E27FC236}">
                <a16:creationId xmlns:a16="http://schemas.microsoft.com/office/drawing/2014/main" id="{01E7EB18-9942-A7B4-938F-07B61132B3E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548914" y="3962266"/>
            <a:ext cx="8418286" cy="3751905"/>
          </a:xfrm>
          <a:prstGeom prst="rect">
            <a:avLst/>
          </a:prstGeom>
        </p:spPr>
      </p:pic>
      <p:pic>
        <p:nvPicPr>
          <p:cNvPr id="11" name="Picture 10">
            <a:extLst>
              <a:ext uri="{FF2B5EF4-FFF2-40B4-BE49-F238E27FC236}">
                <a16:creationId xmlns:a16="http://schemas.microsoft.com/office/drawing/2014/main" id="{B37AE53D-43BB-6A0F-164C-B092B06BE768}"/>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75828" y="3962266"/>
            <a:ext cx="7779601" cy="3751905"/>
          </a:xfrm>
          <a:prstGeom prst="rect">
            <a:avLst/>
          </a:prstGeom>
        </p:spPr>
      </p:pic>
      <p:pic>
        <p:nvPicPr>
          <p:cNvPr id="14" name="Picture 13">
            <a:extLst>
              <a:ext uri="{FF2B5EF4-FFF2-40B4-BE49-F238E27FC236}">
                <a16:creationId xmlns:a16="http://schemas.microsoft.com/office/drawing/2014/main" id="{266AB7F0-D18D-FBF6-B2B7-751075F47336}"/>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8548914" y="102230"/>
            <a:ext cx="8418286" cy="3693675"/>
          </a:xfrm>
          <a:prstGeom prst="rect">
            <a:avLst/>
          </a:prstGeom>
        </p:spPr>
      </p:pic>
      <p:pic>
        <p:nvPicPr>
          <p:cNvPr id="17" name="Picture 16">
            <a:extLst>
              <a:ext uri="{FF2B5EF4-FFF2-40B4-BE49-F238E27FC236}">
                <a16:creationId xmlns:a16="http://schemas.microsoft.com/office/drawing/2014/main" id="{7E6B7273-0F7D-A0EF-ED42-686EEAE383F0}"/>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275828" y="102231"/>
            <a:ext cx="7678001" cy="3693674"/>
          </a:xfrm>
          <a:prstGeom prst="rect">
            <a:avLst/>
          </a:prstGeom>
        </p:spPr>
      </p:pic>
    </p:spTree>
    <p:extLst>
      <p:ext uri="{BB962C8B-B14F-4D97-AF65-F5344CB8AC3E}">
        <p14:creationId xmlns:p14="http://schemas.microsoft.com/office/powerpoint/2010/main" val="400272702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a:extLst>
            <a:ext uri="{FF2B5EF4-FFF2-40B4-BE49-F238E27FC236}">
              <a16:creationId xmlns:a16="http://schemas.microsoft.com/office/drawing/2014/main" id="{BEF932CD-940A-AE0D-F8CC-975CAE8037DD}"/>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4665917E-B367-2800-FF38-8583B37D1B92}"/>
              </a:ext>
            </a:extLst>
          </p:cNvPr>
          <p:cNvGrpSpPr/>
          <p:nvPr/>
        </p:nvGrpSpPr>
        <p:grpSpPr>
          <a:xfrm>
            <a:off x="0" y="0"/>
            <a:ext cx="18288000" cy="10287000"/>
            <a:chOff x="0" y="0"/>
            <a:chExt cx="24384000" cy="13716000"/>
          </a:xfrm>
        </p:grpSpPr>
        <p:sp>
          <p:nvSpPr>
            <p:cNvPr id="3" name="Freeform 3">
              <a:extLst>
                <a:ext uri="{FF2B5EF4-FFF2-40B4-BE49-F238E27FC236}">
                  <a16:creationId xmlns:a16="http://schemas.microsoft.com/office/drawing/2014/main" id="{4FAD411C-8B0C-941E-8852-02257CE8047E}"/>
                </a:ext>
              </a:extLst>
            </p:cNvPr>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close/>
                </a:path>
              </a:pathLst>
            </a:custGeom>
            <a:solidFill>
              <a:srgbClr val="50738C"/>
            </a:solidFill>
          </p:spPr>
          <p:txBody>
            <a:bodyPr/>
            <a:lstStyle/>
            <a:p>
              <a:endParaRPr lang="en-US"/>
            </a:p>
          </p:txBody>
        </p:sp>
      </p:grpSp>
      <p:grpSp>
        <p:nvGrpSpPr>
          <p:cNvPr id="4" name="Group 4">
            <a:extLst>
              <a:ext uri="{FF2B5EF4-FFF2-40B4-BE49-F238E27FC236}">
                <a16:creationId xmlns:a16="http://schemas.microsoft.com/office/drawing/2014/main" id="{7710D14D-4DE9-1511-D269-FC4954A2FBE4}"/>
              </a:ext>
            </a:extLst>
          </p:cNvPr>
          <p:cNvGrpSpPr/>
          <p:nvPr/>
        </p:nvGrpSpPr>
        <p:grpSpPr>
          <a:xfrm>
            <a:off x="29028" y="-19050"/>
            <a:ext cx="18288000" cy="10287000"/>
            <a:chOff x="0" y="0"/>
            <a:chExt cx="24384000" cy="13716000"/>
          </a:xfrm>
        </p:grpSpPr>
        <p:sp>
          <p:nvSpPr>
            <p:cNvPr id="5" name="Freeform 5">
              <a:extLst>
                <a:ext uri="{FF2B5EF4-FFF2-40B4-BE49-F238E27FC236}">
                  <a16:creationId xmlns:a16="http://schemas.microsoft.com/office/drawing/2014/main" id="{8B0622E4-59FE-113E-944A-F74E04825D32}"/>
                </a:ext>
              </a:extLst>
            </p:cNvPr>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close/>
                </a:path>
              </a:pathLst>
            </a:custGeom>
            <a:solidFill>
              <a:srgbClr val="FFFCF5"/>
            </a:solidFill>
          </p:spPr>
          <p:txBody>
            <a:bodyPr/>
            <a:lstStyle/>
            <a:p>
              <a:endParaRPr lang="en-US"/>
            </a:p>
          </p:txBody>
        </p:sp>
      </p:grpSp>
      <p:sp>
        <p:nvSpPr>
          <p:cNvPr id="10" name="TextBox 10">
            <a:extLst>
              <a:ext uri="{FF2B5EF4-FFF2-40B4-BE49-F238E27FC236}">
                <a16:creationId xmlns:a16="http://schemas.microsoft.com/office/drawing/2014/main" id="{26C796F5-D718-9AB7-3C5F-55CDB26FA420}"/>
              </a:ext>
            </a:extLst>
          </p:cNvPr>
          <p:cNvSpPr txBox="1"/>
          <p:nvPr/>
        </p:nvSpPr>
        <p:spPr>
          <a:xfrm>
            <a:off x="745496" y="7880532"/>
            <a:ext cx="14465475" cy="2221057"/>
          </a:xfrm>
          <a:prstGeom prst="rect">
            <a:avLst/>
          </a:prstGeom>
        </p:spPr>
        <p:txBody>
          <a:bodyPr wrap="square" lIns="0" tIns="0" rIns="0" bIns="0" rtlCol="0" anchor="t">
            <a:spAutoFit/>
          </a:bodyPr>
          <a:lstStyle/>
          <a:p>
            <a:pPr>
              <a:lnSpc>
                <a:spcPts val="5990"/>
              </a:lnSpc>
            </a:pPr>
            <a:r>
              <a:rPr lang="en-US" sz="3600" b="1" dirty="0">
                <a:solidFill>
                  <a:srgbClr val="124E73"/>
                </a:solidFill>
                <a:latin typeface="Museo Moderno Medium"/>
                <a:ea typeface="Museo Moderno Medium"/>
                <a:cs typeface="Museo Moderno Medium"/>
                <a:sym typeface="Museo Moderno Medium"/>
              </a:rPr>
              <a:t>These four figures are boxplots for Unit price divided among several categories which shows that there no outliers for Unit price for all our categories</a:t>
            </a:r>
          </a:p>
        </p:txBody>
      </p:sp>
      <p:pic>
        <p:nvPicPr>
          <p:cNvPr id="14" name="Picture 13">
            <a:extLst>
              <a:ext uri="{FF2B5EF4-FFF2-40B4-BE49-F238E27FC236}">
                <a16:creationId xmlns:a16="http://schemas.microsoft.com/office/drawing/2014/main" id="{4F577CC1-A440-8343-05BD-871719C60E3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02162" y="4054971"/>
            <a:ext cx="8800402" cy="3659200"/>
          </a:xfrm>
          <a:prstGeom prst="rect">
            <a:avLst/>
          </a:prstGeom>
        </p:spPr>
      </p:pic>
      <p:pic>
        <p:nvPicPr>
          <p:cNvPr id="17" name="Picture 16">
            <a:extLst>
              <a:ext uri="{FF2B5EF4-FFF2-40B4-BE49-F238E27FC236}">
                <a16:creationId xmlns:a16="http://schemas.microsoft.com/office/drawing/2014/main" id="{1DB82192-3EAB-A78F-4D5F-342A3A6AE46C}"/>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9143999" y="4074021"/>
            <a:ext cx="8679543" cy="3659200"/>
          </a:xfrm>
          <a:prstGeom prst="rect">
            <a:avLst/>
          </a:prstGeom>
        </p:spPr>
      </p:pic>
      <p:pic>
        <p:nvPicPr>
          <p:cNvPr id="20" name="Picture 19">
            <a:extLst>
              <a:ext uri="{FF2B5EF4-FFF2-40B4-BE49-F238E27FC236}">
                <a16:creationId xmlns:a16="http://schemas.microsoft.com/office/drawing/2014/main" id="{4AE9AECE-49D7-2251-E5BE-B6DDB07D819A}"/>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9143999" y="200701"/>
            <a:ext cx="8679543" cy="3794550"/>
          </a:xfrm>
          <a:prstGeom prst="rect">
            <a:avLst/>
          </a:prstGeom>
        </p:spPr>
      </p:pic>
      <p:pic>
        <p:nvPicPr>
          <p:cNvPr id="22" name="Picture 21">
            <a:extLst>
              <a:ext uri="{FF2B5EF4-FFF2-40B4-BE49-F238E27FC236}">
                <a16:creationId xmlns:a16="http://schemas.microsoft.com/office/drawing/2014/main" id="{012FF4F7-E90B-37C8-D330-F0DA99938825}"/>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202162" y="167850"/>
            <a:ext cx="8800402" cy="3794550"/>
          </a:xfrm>
          <a:prstGeom prst="rect">
            <a:avLst/>
          </a:prstGeom>
        </p:spPr>
      </p:pic>
    </p:spTree>
    <p:extLst>
      <p:ext uri="{BB962C8B-B14F-4D97-AF65-F5344CB8AC3E}">
        <p14:creationId xmlns:p14="http://schemas.microsoft.com/office/powerpoint/2010/main" val="296061003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a:extLst>
            <a:ext uri="{FF2B5EF4-FFF2-40B4-BE49-F238E27FC236}">
              <a16:creationId xmlns:a16="http://schemas.microsoft.com/office/drawing/2014/main" id="{EBDE1D8A-E705-4B81-5A6E-C23959E5AC35}"/>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66E54834-B300-16AA-1323-27859CB479B2}"/>
              </a:ext>
            </a:extLst>
          </p:cNvPr>
          <p:cNvGrpSpPr/>
          <p:nvPr/>
        </p:nvGrpSpPr>
        <p:grpSpPr>
          <a:xfrm>
            <a:off x="0" y="0"/>
            <a:ext cx="18288000" cy="10287000"/>
            <a:chOff x="0" y="0"/>
            <a:chExt cx="24384000" cy="13716000"/>
          </a:xfrm>
        </p:grpSpPr>
        <p:sp>
          <p:nvSpPr>
            <p:cNvPr id="3" name="Freeform 3">
              <a:extLst>
                <a:ext uri="{FF2B5EF4-FFF2-40B4-BE49-F238E27FC236}">
                  <a16:creationId xmlns:a16="http://schemas.microsoft.com/office/drawing/2014/main" id="{10536BF7-2FB1-0474-4C4C-BCF73E0C9A87}"/>
                </a:ext>
              </a:extLst>
            </p:cNvPr>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close/>
                </a:path>
              </a:pathLst>
            </a:custGeom>
            <a:solidFill>
              <a:srgbClr val="50738C"/>
            </a:solidFill>
          </p:spPr>
          <p:txBody>
            <a:bodyPr/>
            <a:lstStyle/>
            <a:p>
              <a:endParaRPr lang="en-US"/>
            </a:p>
          </p:txBody>
        </p:sp>
      </p:grpSp>
      <p:grpSp>
        <p:nvGrpSpPr>
          <p:cNvPr id="4" name="Group 4">
            <a:extLst>
              <a:ext uri="{FF2B5EF4-FFF2-40B4-BE49-F238E27FC236}">
                <a16:creationId xmlns:a16="http://schemas.microsoft.com/office/drawing/2014/main" id="{013F4637-1F76-A2A6-BD0D-F20370C5DDEE}"/>
              </a:ext>
            </a:extLst>
          </p:cNvPr>
          <p:cNvGrpSpPr/>
          <p:nvPr/>
        </p:nvGrpSpPr>
        <p:grpSpPr>
          <a:xfrm>
            <a:off x="29028" y="-19050"/>
            <a:ext cx="18288000" cy="10287000"/>
            <a:chOff x="0" y="0"/>
            <a:chExt cx="24384000" cy="13716000"/>
          </a:xfrm>
        </p:grpSpPr>
        <p:sp>
          <p:nvSpPr>
            <p:cNvPr id="5" name="Freeform 5">
              <a:extLst>
                <a:ext uri="{FF2B5EF4-FFF2-40B4-BE49-F238E27FC236}">
                  <a16:creationId xmlns:a16="http://schemas.microsoft.com/office/drawing/2014/main" id="{746767FF-B99A-35FE-5268-39B0999C681F}"/>
                </a:ext>
              </a:extLst>
            </p:cNvPr>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close/>
                </a:path>
              </a:pathLst>
            </a:custGeom>
            <a:solidFill>
              <a:srgbClr val="FFFCF5"/>
            </a:solidFill>
          </p:spPr>
          <p:txBody>
            <a:bodyPr/>
            <a:lstStyle/>
            <a:p>
              <a:endParaRPr lang="en-US"/>
            </a:p>
          </p:txBody>
        </p:sp>
      </p:grpSp>
      <p:sp>
        <p:nvSpPr>
          <p:cNvPr id="10" name="TextBox 10">
            <a:extLst>
              <a:ext uri="{FF2B5EF4-FFF2-40B4-BE49-F238E27FC236}">
                <a16:creationId xmlns:a16="http://schemas.microsoft.com/office/drawing/2014/main" id="{2793DA63-497A-7408-6B1F-EE0289FB5D1E}"/>
              </a:ext>
            </a:extLst>
          </p:cNvPr>
          <p:cNvSpPr txBox="1"/>
          <p:nvPr/>
        </p:nvSpPr>
        <p:spPr>
          <a:xfrm>
            <a:off x="508998" y="6269446"/>
            <a:ext cx="14465475" cy="2990499"/>
          </a:xfrm>
          <a:prstGeom prst="rect">
            <a:avLst/>
          </a:prstGeom>
        </p:spPr>
        <p:txBody>
          <a:bodyPr wrap="square" lIns="0" tIns="0" rIns="0" bIns="0" rtlCol="0" anchor="t">
            <a:spAutoFit/>
          </a:bodyPr>
          <a:lstStyle/>
          <a:p>
            <a:pPr algn="l">
              <a:lnSpc>
                <a:spcPts val="5990"/>
              </a:lnSpc>
            </a:pPr>
            <a:r>
              <a:rPr lang="en-US" sz="3600" b="1" dirty="0">
                <a:solidFill>
                  <a:srgbClr val="124E73"/>
                </a:solidFill>
                <a:latin typeface="Museo Moderno Medium"/>
                <a:ea typeface="Museo Moderno Medium"/>
                <a:cs typeface="Museo Moderno Medium"/>
                <a:sym typeface="Museo Moderno Medium"/>
              </a:rPr>
              <a:t>This figure is a heatmap showing the correlation between several variables in which the higher the number the stronger the linear relation excluding main diagonal because each variable correlates perfectly with itself.</a:t>
            </a:r>
          </a:p>
        </p:txBody>
      </p:sp>
      <p:pic>
        <p:nvPicPr>
          <p:cNvPr id="38" name="Picture 37">
            <a:extLst>
              <a:ext uri="{FF2B5EF4-FFF2-40B4-BE49-F238E27FC236}">
                <a16:creationId xmlns:a16="http://schemas.microsoft.com/office/drawing/2014/main" id="{6D23E760-EF7E-112B-65C2-B3055C59A5D0}"/>
              </a:ext>
            </a:extLst>
          </p:cNvPr>
          <p:cNvPicPr>
            <a:picLocks noChangeAspect="1"/>
          </p:cNvPicPr>
          <p:nvPr/>
        </p:nvPicPr>
        <p:blipFill>
          <a:blip r:embed="rId3"/>
          <a:stretch>
            <a:fillRect/>
          </a:stretch>
        </p:blipFill>
        <p:spPr>
          <a:xfrm>
            <a:off x="1723930" y="1223814"/>
            <a:ext cx="12035613" cy="4741558"/>
          </a:xfrm>
          <a:prstGeom prst="rect">
            <a:avLst/>
          </a:prstGeom>
        </p:spPr>
      </p:pic>
      <p:sp>
        <p:nvSpPr>
          <p:cNvPr id="6" name="TextBox 10">
            <a:extLst>
              <a:ext uri="{FF2B5EF4-FFF2-40B4-BE49-F238E27FC236}">
                <a16:creationId xmlns:a16="http://schemas.microsoft.com/office/drawing/2014/main" id="{5AAC0679-F55A-251B-49EA-1773FD7BA5A3}"/>
              </a:ext>
            </a:extLst>
          </p:cNvPr>
          <p:cNvSpPr txBox="1"/>
          <p:nvPr/>
        </p:nvSpPr>
        <p:spPr>
          <a:xfrm>
            <a:off x="288296" y="185411"/>
            <a:ext cx="14465475" cy="1451616"/>
          </a:xfrm>
          <a:prstGeom prst="rect">
            <a:avLst/>
          </a:prstGeom>
        </p:spPr>
        <p:txBody>
          <a:bodyPr wrap="square" lIns="0" tIns="0" rIns="0" bIns="0" rtlCol="0" anchor="t">
            <a:spAutoFit/>
          </a:bodyPr>
          <a:lstStyle/>
          <a:p>
            <a:pPr algn="l">
              <a:lnSpc>
                <a:spcPts val="5990"/>
              </a:lnSpc>
            </a:pPr>
            <a:r>
              <a:rPr lang="en-US" sz="3600" b="1" dirty="0">
                <a:solidFill>
                  <a:srgbClr val="124E73"/>
                </a:solidFill>
                <a:latin typeface="Museo Moderno Medium"/>
                <a:ea typeface="Museo Moderno Medium"/>
                <a:cs typeface="Museo Moderno Medium"/>
                <a:sym typeface="Museo Moderno Medium"/>
              </a:rPr>
              <a:t>Correlation Heatmap for Quantity, unit price, Items in cart, Total price</a:t>
            </a:r>
          </a:p>
          <a:p>
            <a:pPr algn="l">
              <a:lnSpc>
                <a:spcPts val="5990"/>
              </a:lnSpc>
            </a:pPr>
            <a:endParaRPr lang="en-US" sz="3600" b="1" dirty="0">
              <a:solidFill>
                <a:srgbClr val="124E73"/>
              </a:solidFill>
              <a:latin typeface="Museo Moderno Medium"/>
              <a:ea typeface="Museo Moderno Medium"/>
              <a:cs typeface="Museo Moderno Medium"/>
              <a:sym typeface="Museo Moderno Medium"/>
            </a:endParaRPr>
          </a:p>
        </p:txBody>
      </p:sp>
    </p:spTree>
    <p:extLst>
      <p:ext uri="{BB962C8B-B14F-4D97-AF65-F5344CB8AC3E}">
        <p14:creationId xmlns:p14="http://schemas.microsoft.com/office/powerpoint/2010/main" val="426190601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a:extLst>
            <a:ext uri="{FF2B5EF4-FFF2-40B4-BE49-F238E27FC236}">
              <a16:creationId xmlns:a16="http://schemas.microsoft.com/office/drawing/2014/main" id="{842E261D-1A15-5245-09E7-390763C99D13}"/>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E5B37DF4-8E5D-4659-A16A-62E04EFCC88F}"/>
              </a:ext>
            </a:extLst>
          </p:cNvPr>
          <p:cNvGrpSpPr/>
          <p:nvPr/>
        </p:nvGrpSpPr>
        <p:grpSpPr>
          <a:xfrm>
            <a:off x="0" y="0"/>
            <a:ext cx="18288000" cy="10287000"/>
            <a:chOff x="0" y="0"/>
            <a:chExt cx="24384000" cy="13716000"/>
          </a:xfrm>
        </p:grpSpPr>
        <p:sp>
          <p:nvSpPr>
            <p:cNvPr id="3" name="Freeform 3">
              <a:extLst>
                <a:ext uri="{FF2B5EF4-FFF2-40B4-BE49-F238E27FC236}">
                  <a16:creationId xmlns:a16="http://schemas.microsoft.com/office/drawing/2014/main" id="{A6D1CF16-185A-3BC4-3E2F-A2303D6BD3C9}"/>
                </a:ext>
              </a:extLst>
            </p:cNvPr>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close/>
                </a:path>
              </a:pathLst>
            </a:custGeom>
            <a:solidFill>
              <a:srgbClr val="50738C"/>
            </a:solidFill>
          </p:spPr>
          <p:txBody>
            <a:bodyPr/>
            <a:lstStyle/>
            <a:p>
              <a:endParaRPr lang="en-US"/>
            </a:p>
          </p:txBody>
        </p:sp>
      </p:grpSp>
      <p:grpSp>
        <p:nvGrpSpPr>
          <p:cNvPr id="4" name="Group 4">
            <a:extLst>
              <a:ext uri="{FF2B5EF4-FFF2-40B4-BE49-F238E27FC236}">
                <a16:creationId xmlns:a16="http://schemas.microsoft.com/office/drawing/2014/main" id="{D7597D80-0827-AE68-87F9-6A8BB410A35D}"/>
              </a:ext>
            </a:extLst>
          </p:cNvPr>
          <p:cNvGrpSpPr/>
          <p:nvPr/>
        </p:nvGrpSpPr>
        <p:grpSpPr>
          <a:xfrm>
            <a:off x="29028" y="-19050"/>
            <a:ext cx="18288000" cy="10287000"/>
            <a:chOff x="0" y="0"/>
            <a:chExt cx="24384000" cy="13716000"/>
          </a:xfrm>
        </p:grpSpPr>
        <p:sp>
          <p:nvSpPr>
            <p:cNvPr id="5" name="Freeform 5">
              <a:extLst>
                <a:ext uri="{FF2B5EF4-FFF2-40B4-BE49-F238E27FC236}">
                  <a16:creationId xmlns:a16="http://schemas.microsoft.com/office/drawing/2014/main" id="{40F52A88-396C-312D-5A45-83A203925F5B}"/>
                </a:ext>
              </a:extLst>
            </p:cNvPr>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close/>
                </a:path>
              </a:pathLst>
            </a:custGeom>
            <a:solidFill>
              <a:srgbClr val="FFFCF5"/>
            </a:solidFill>
          </p:spPr>
          <p:txBody>
            <a:bodyPr/>
            <a:lstStyle/>
            <a:p>
              <a:endParaRPr lang="en-US"/>
            </a:p>
          </p:txBody>
        </p:sp>
      </p:grpSp>
      <p:sp>
        <p:nvSpPr>
          <p:cNvPr id="6" name="TextBox 10">
            <a:extLst>
              <a:ext uri="{FF2B5EF4-FFF2-40B4-BE49-F238E27FC236}">
                <a16:creationId xmlns:a16="http://schemas.microsoft.com/office/drawing/2014/main" id="{8BBEF4A6-061E-0F31-DDFE-8D5CC8591E3D}"/>
              </a:ext>
            </a:extLst>
          </p:cNvPr>
          <p:cNvSpPr txBox="1"/>
          <p:nvPr/>
        </p:nvSpPr>
        <p:spPr>
          <a:xfrm>
            <a:off x="288296" y="185411"/>
            <a:ext cx="17375590" cy="9119804"/>
          </a:xfrm>
          <a:prstGeom prst="rect">
            <a:avLst/>
          </a:prstGeom>
        </p:spPr>
        <p:txBody>
          <a:bodyPr wrap="square" lIns="0" tIns="0" rIns="0" bIns="0" rtlCol="0" anchor="t">
            <a:spAutoFit/>
          </a:bodyPr>
          <a:lstStyle/>
          <a:p>
            <a:pPr algn="l">
              <a:lnSpc>
                <a:spcPts val="5990"/>
              </a:lnSpc>
            </a:pPr>
            <a:r>
              <a:rPr lang="en-US" sz="2400" b="1" dirty="0">
                <a:solidFill>
                  <a:srgbClr val="124E73"/>
                </a:solidFill>
                <a:latin typeface="Museo Moderno Medium"/>
                <a:ea typeface="Museo Moderno Medium"/>
                <a:cs typeface="Museo Moderno Medium"/>
                <a:sym typeface="Museo Moderno Medium"/>
              </a:rPr>
              <a:t>Conclusion:</a:t>
            </a:r>
          </a:p>
          <a:p>
            <a:pPr marL="571500" indent="-571500">
              <a:lnSpc>
                <a:spcPts val="5990"/>
              </a:lnSpc>
              <a:buFont typeface="Arial" panose="020B0604020202020204" pitchFamily="34" charset="0"/>
              <a:buChar char="•"/>
            </a:pPr>
            <a:r>
              <a:rPr lang="en-US" sz="2400" dirty="0"/>
              <a:t>Successfully cleaned and prepared the dataset for analysis by handling missing values, checking duplicates, and correcting data types.</a:t>
            </a:r>
          </a:p>
          <a:p>
            <a:pPr marL="571500" indent="-571500">
              <a:lnSpc>
                <a:spcPts val="5990"/>
              </a:lnSpc>
              <a:buFont typeface="Arial" panose="020B0604020202020204" pitchFamily="34" charset="0"/>
              <a:buChar char="•"/>
            </a:pPr>
            <a:r>
              <a:rPr lang="en-US" sz="2400" dirty="0"/>
              <a:t>Applied descriptive statistical analysis to better understand both numeric and categorical variables.</a:t>
            </a:r>
          </a:p>
          <a:p>
            <a:pPr marL="571500" indent="-571500">
              <a:lnSpc>
                <a:spcPts val="5990"/>
              </a:lnSpc>
              <a:buFont typeface="Arial" panose="020B0604020202020204" pitchFamily="34" charset="0"/>
              <a:buChar char="•"/>
            </a:pPr>
            <a:r>
              <a:rPr lang="en-US" sz="2400" dirty="0"/>
              <a:t>Explored data distributions using histograms and identified variability and extreme observations through boxplots</a:t>
            </a:r>
          </a:p>
          <a:p>
            <a:pPr marL="571500" indent="-571500">
              <a:lnSpc>
                <a:spcPts val="5990"/>
              </a:lnSpc>
              <a:buFont typeface="Arial" panose="020B0604020202020204" pitchFamily="34" charset="0"/>
              <a:buChar char="•"/>
            </a:pPr>
            <a:r>
              <a:rPr lang="en-US" sz="2400" dirty="0"/>
              <a:t>Detected and analyzed outliers mathematically using the Interquartile Range (IQR) method and visually through charts</a:t>
            </a:r>
          </a:p>
          <a:p>
            <a:pPr marL="571500" indent="-571500">
              <a:lnSpc>
                <a:spcPts val="5990"/>
              </a:lnSpc>
              <a:buFont typeface="Arial" panose="020B0604020202020204" pitchFamily="34" charset="0"/>
              <a:buChar char="•"/>
            </a:pPr>
            <a:r>
              <a:rPr lang="en-US" sz="2400" dirty="0"/>
              <a:t>Compared numeric variables across different categories to identify behavioral differences and unusual patterns.</a:t>
            </a:r>
          </a:p>
          <a:p>
            <a:pPr marL="571500" indent="-571500">
              <a:lnSpc>
                <a:spcPts val="5990"/>
              </a:lnSpc>
              <a:buFont typeface="Arial" panose="020B0604020202020204" pitchFamily="34" charset="0"/>
              <a:buChar char="•"/>
            </a:pPr>
            <a:r>
              <a:rPr lang="en-US" sz="2400" dirty="0"/>
              <a:t>Investigated relationships between variables using a correlation heatmap to better understand dependencies within the dataset.</a:t>
            </a:r>
          </a:p>
          <a:p>
            <a:pPr marL="571500" indent="-571500">
              <a:lnSpc>
                <a:spcPts val="5990"/>
              </a:lnSpc>
              <a:buFont typeface="Arial" panose="020B0604020202020204" pitchFamily="34" charset="0"/>
              <a:buChar char="•"/>
            </a:pPr>
            <a:r>
              <a:rPr lang="en-US" sz="2400" dirty="0"/>
              <a:t>Followed a structured and organized analytical workflow from data cleaning to visualization and interpretation.</a:t>
            </a:r>
          </a:p>
          <a:p>
            <a:pPr marL="571500" indent="-571500">
              <a:lnSpc>
                <a:spcPts val="5990"/>
              </a:lnSpc>
              <a:buFont typeface="Arial" panose="020B0604020202020204" pitchFamily="34" charset="0"/>
              <a:buChar char="•"/>
            </a:pPr>
            <a:r>
              <a:rPr lang="en-US" sz="2400" dirty="0"/>
              <a:t>This project demonstrates the importance of Exploratory Data Analysis in transforming raw data into meaningful insights, supporting accurate interpretation, better decision-making, and preparation for future advanced analysis.</a:t>
            </a:r>
          </a:p>
          <a:p>
            <a:pPr marL="571500" indent="-571500">
              <a:lnSpc>
                <a:spcPts val="5990"/>
              </a:lnSpc>
              <a:buFont typeface="Arial" panose="020B0604020202020204" pitchFamily="34" charset="0"/>
              <a:buChar char="•"/>
            </a:pPr>
            <a:r>
              <a:rPr lang="en-US" sz="2400" dirty="0"/>
              <a:t>The goal was not only to visualize the data, but also to understand its structure, detect anomalies, and extract meaningful insights through a systematic analytical process.</a:t>
            </a:r>
            <a:endParaRPr lang="en-US" sz="2400" b="1" dirty="0">
              <a:solidFill>
                <a:srgbClr val="124E73"/>
              </a:solidFill>
              <a:latin typeface="Museo Moderno Medium"/>
              <a:ea typeface="Museo Moderno Medium"/>
              <a:cs typeface="Museo Moderno Medium"/>
              <a:sym typeface="Museo Moderno Medium"/>
            </a:endParaRPr>
          </a:p>
        </p:txBody>
      </p:sp>
    </p:spTree>
    <p:extLst>
      <p:ext uri="{BB962C8B-B14F-4D97-AF65-F5344CB8AC3E}">
        <p14:creationId xmlns:p14="http://schemas.microsoft.com/office/powerpoint/2010/main" val="2005567172"/>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223</TotalTime>
  <Words>886</Words>
  <Application>Microsoft Office PowerPoint</Application>
  <PresentationFormat>Custom</PresentationFormat>
  <Paragraphs>264</Paragraphs>
  <Slides>14</Slides>
  <Notes>14</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14</vt:i4>
      </vt:variant>
    </vt:vector>
  </HeadingPairs>
  <TitlesOfParts>
    <vt:vector size="18" baseType="lpstr">
      <vt:lpstr>Calibri</vt:lpstr>
      <vt:lpstr>Museo Moderno Medium</vt:lpstr>
      <vt:lpstr>Arial</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Non Text Magic Studio Magic Design for Presentations L&amp;P</dc:title>
  <dc:creator>Tarek</dc:creator>
  <cp:lastModifiedBy>Sky</cp:lastModifiedBy>
  <cp:revision>18</cp:revision>
  <dcterms:created xsi:type="dcterms:W3CDTF">2006-08-16T00:00:00Z</dcterms:created>
  <dcterms:modified xsi:type="dcterms:W3CDTF">2026-05-21T15:02:58Z</dcterms:modified>
  <dc:identifier>DAHJqvGHWRA</dc:identifier>
</cp:coreProperties>
</file>